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9" r:id="rId3"/>
    <p:sldId id="258" r:id="rId4"/>
    <p:sldId id="260" r:id="rId5"/>
    <p:sldId id="272" r:id="rId6"/>
    <p:sldId id="271" r:id="rId7"/>
    <p:sldId id="261" r:id="rId8"/>
    <p:sldId id="262" r:id="rId9"/>
    <p:sldId id="273" r:id="rId10"/>
    <p:sldId id="264" r:id="rId11"/>
    <p:sldId id="265" r:id="rId12"/>
    <p:sldId id="266" r:id="rId13"/>
    <p:sldId id="267" r:id="rId14"/>
    <p:sldId id="268"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AFE2"/>
    <a:srgbClr val="797F8C"/>
    <a:srgbClr val="F2FAF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59" d="100"/>
          <a:sy n="59" d="100"/>
        </p:scale>
        <p:origin x="940"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www.kaggle.com/datasets/kylefengkfeng209/college-majors-2026-earnings-debt-jobs-ai" TargetMode="Externa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46304" cy="6858000"/>
          </a:xfrm>
          <a:prstGeom prst="rect">
            <a:avLst/>
          </a:prstGeom>
          <a:solidFill>
            <a:srgbClr val="33AFE2"/>
          </a:solidFill>
          <a:ln>
            <a:solidFill>
              <a:srgbClr val="33AF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589039" y="2022574"/>
            <a:ext cx="5013616" cy="1194173"/>
          </a:xfrm>
          <a:prstGeom prst="rect">
            <a:avLst/>
          </a:prstGeom>
          <a:noFill/>
        </p:spPr>
        <p:txBody>
          <a:bodyPr wrap="none" lIns="27432" tIns="27432" rIns="27432" bIns="27432" anchor="t">
            <a:spAutoFit/>
          </a:bodyPr>
          <a:lstStyle/>
          <a:p>
            <a:pPr algn="ctr"/>
            <a:r>
              <a:rPr sz="3700" b="1" i="0">
                <a:solidFill>
                  <a:srgbClr val="202124"/>
                </a:solidFill>
                <a:latin typeface="Aptos"/>
              </a:rPr>
              <a:t>What happens after
you choose a program?</a:t>
            </a:r>
          </a:p>
        </p:txBody>
      </p:sp>
      <p:sp>
        <p:nvSpPr>
          <p:cNvPr id="6" name="TextBox 5"/>
          <p:cNvSpPr txBox="1"/>
          <p:nvPr/>
        </p:nvSpPr>
        <p:spPr>
          <a:xfrm>
            <a:off x="3048026" y="3569982"/>
            <a:ext cx="6095643" cy="517065"/>
          </a:xfrm>
          <a:prstGeom prst="rect">
            <a:avLst/>
          </a:prstGeom>
          <a:noFill/>
        </p:spPr>
        <p:txBody>
          <a:bodyPr wrap="none" lIns="27432" tIns="27432" rIns="27432" bIns="27432"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6B7280"/>
                </a:solidFill>
                <a:effectLst/>
                <a:uLnTx/>
                <a:uFillTx/>
                <a:latin typeface="Aptos"/>
                <a:ea typeface="+mn-ea"/>
                <a:cs typeface="+mn-cs"/>
              </a:rPr>
              <a:t>Earnings, AI exposure &amp; employment outcomes across college programs.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6B7280"/>
                </a:solidFill>
                <a:effectLst/>
                <a:uLnTx/>
                <a:uFillTx/>
                <a:latin typeface="Aptos"/>
                <a:ea typeface="+mn-ea"/>
                <a:cs typeface="+mn-cs"/>
              </a:rPr>
              <a:t>A visual story of where graduates go next.</a:t>
            </a:r>
          </a:p>
        </p:txBody>
      </p:sp>
      <p:cxnSp>
        <p:nvCxnSpPr>
          <p:cNvPr id="7" name="Connector 6"/>
          <p:cNvCxnSpPr>
            <a:cxnSpLocks/>
          </p:cNvCxnSpPr>
          <p:nvPr/>
        </p:nvCxnSpPr>
        <p:spPr>
          <a:xfrm>
            <a:off x="2886303" y="4400014"/>
            <a:ext cx="6419088" cy="0"/>
          </a:xfrm>
          <a:prstGeom prst="line">
            <a:avLst/>
          </a:prstGeom>
          <a:ln w="27940">
            <a:solidFill>
              <a:srgbClr val="33AFE2"/>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26946" y="4641392"/>
            <a:ext cx="1337802" cy="193899"/>
          </a:xfrm>
          <a:prstGeom prst="rect">
            <a:avLst/>
          </a:prstGeom>
          <a:noFill/>
        </p:spPr>
        <p:txBody>
          <a:bodyPr wrap="none" lIns="27432" tIns="27432" rIns="27432" bIns="27432" anchor="ctr">
            <a:spAutoFit/>
          </a:bodyPr>
          <a:lstStyle/>
          <a:p>
            <a:pPr algn="ctr"/>
            <a:r>
              <a:rPr sz="900" b="1" i="0" dirty="0">
                <a:solidFill>
                  <a:srgbClr val="6B7280"/>
                </a:solidFill>
                <a:latin typeface="Aptos"/>
              </a:rPr>
              <a:t>DATA-DRIVEN ANALYSIS</a:t>
            </a:r>
          </a:p>
        </p:txBody>
      </p:sp>
      <p:sp>
        <p:nvSpPr>
          <p:cNvPr id="9" name="TextBox 8"/>
          <p:cNvSpPr txBox="1"/>
          <p:nvPr/>
        </p:nvSpPr>
        <p:spPr>
          <a:xfrm>
            <a:off x="4686359" y="4882769"/>
            <a:ext cx="2818977" cy="193899"/>
          </a:xfrm>
          <a:prstGeom prst="rect">
            <a:avLst/>
          </a:prstGeom>
          <a:noFill/>
        </p:spPr>
        <p:txBody>
          <a:bodyPr wrap="none" lIns="27432" tIns="27432" rIns="27432" bIns="27432" anchor="ctr">
            <a:spAutoFit/>
          </a:bodyPr>
          <a:lstStyle/>
          <a:p>
            <a:pPr algn="l"/>
            <a:r>
              <a:rPr sz="900" b="0" i="0" dirty="0">
                <a:solidFill>
                  <a:srgbClr val="9CA3AF"/>
                </a:solidFill>
                <a:latin typeface="Aptos"/>
              </a:rPr>
              <a:t>[</a:t>
            </a:r>
            <a:r>
              <a:rPr lang="en-CA" sz="900" b="0" i="0" dirty="0">
                <a:solidFill>
                  <a:srgbClr val="9CA3AF"/>
                </a:solidFill>
                <a:latin typeface="Aptos"/>
              </a:rPr>
              <a:t>Brooke Crichlow</a:t>
            </a:r>
            <a:r>
              <a:rPr sz="900" b="0" i="0" dirty="0">
                <a:solidFill>
                  <a:srgbClr val="9CA3AF"/>
                </a:solidFill>
                <a:latin typeface="Aptos"/>
              </a:rPr>
              <a:t>]  •  [</a:t>
            </a:r>
            <a:r>
              <a:rPr lang="en-CA" sz="900" b="0" i="0" dirty="0">
                <a:solidFill>
                  <a:srgbClr val="9CA3AF"/>
                </a:solidFill>
                <a:latin typeface="Aptos"/>
              </a:rPr>
              <a:t>Personal Project</a:t>
            </a:r>
            <a:r>
              <a:rPr sz="900" b="0" i="0" dirty="0">
                <a:solidFill>
                  <a:srgbClr val="9CA3AF"/>
                </a:solidFill>
                <a:latin typeface="Aptos"/>
              </a:rPr>
              <a:t>]  •  [</a:t>
            </a:r>
            <a:r>
              <a:rPr lang="en-CA" sz="900" b="0" i="0" dirty="0">
                <a:solidFill>
                  <a:srgbClr val="9CA3AF"/>
                </a:solidFill>
                <a:latin typeface="Aptos"/>
              </a:rPr>
              <a:t>August 2026</a:t>
            </a:r>
            <a:r>
              <a:rPr sz="900" b="0" i="0" dirty="0">
                <a:solidFill>
                  <a:srgbClr val="9CA3AF"/>
                </a:solidFill>
                <a:latin typeface="Aptos"/>
              </a:rPr>
              <a: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33AFE2"/>
          </a:solidFill>
          <a:ln>
            <a:solidFill>
              <a:srgbClr val="33AF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37390"/>
            <a:ext cx="629275" cy="193899"/>
          </a:xfrm>
          <a:prstGeom prst="rect">
            <a:avLst/>
          </a:prstGeom>
          <a:noFill/>
        </p:spPr>
        <p:txBody>
          <a:bodyPr wrap="none" lIns="27432" tIns="27432" rIns="27432" bIns="27432" anchor="ctr">
            <a:spAutoFit/>
          </a:bodyPr>
          <a:lstStyle/>
          <a:p>
            <a:pPr algn="l"/>
            <a:r>
              <a:rPr lang="en-CA" sz="900" b="1" i="0" dirty="0">
                <a:solidFill>
                  <a:srgbClr val="237BA5"/>
                </a:solidFill>
                <a:latin typeface="Aptos"/>
              </a:rPr>
              <a:t>OVERVIEW</a:t>
            </a:r>
            <a:endParaRPr sz="900" b="1" i="0" dirty="0">
              <a:solidFill>
                <a:srgbClr val="237BA5"/>
              </a:solidFill>
              <a:latin typeface="Aptos"/>
            </a:endParaRPr>
          </a:p>
        </p:txBody>
      </p:sp>
      <p:sp>
        <p:nvSpPr>
          <p:cNvPr id="4" name="TextBox 3"/>
          <p:cNvSpPr txBox="1"/>
          <p:nvPr/>
        </p:nvSpPr>
        <p:spPr>
          <a:xfrm>
            <a:off x="594360" y="676052"/>
            <a:ext cx="7659661" cy="440120"/>
          </a:xfrm>
          <a:prstGeom prst="rect">
            <a:avLst/>
          </a:prstGeom>
          <a:noFill/>
        </p:spPr>
        <p:txBody>
          <a:bodyPr wrap="none" lIns="27432" tIns="27432" rIns="27432" bIns="27432" anchor="ctr">
            <a:spAutoFit/>
          </a:bodyPr>
          <a:lstStyle/>
          <a:p>
            <a:pPr algn="l"/>
            <a:r>
              <a:rPr lang="en-CA" sz="2500" b="1" i="0" dirty="0">
                <a:solidFill>
                  <a:srgbClr val="202124"/>
                </a:solidFill>
                <a:latin typeface="Aptos"/>
              </a:rPr>
              <a:t>TLDR; </a:t>
            </a:r>
            <a:r>
              <a:rPr sz="2500" b="1" i="0" dirty="0">
                <a:solidFill>
                  <a:srgbClr val="202124"/>
                </a:solidFill>
                <a:latin typeface="Aptos"/>
              </a:rPr>
              <a:t>What should a prospective student take away?</a:t>
            </a:r>
          </a:p>
        </p:txBody>
      </p:sp>
      <p:sp>
        <p:nvSpPr>
          <p:cNvPr id="5" name="TextBox 4"/>
          <p:cNvSpPr txBox="1"/>
          <p:nvPr/>
        </p:nvSpPr>
        <p:spPr>
          <a:xfrm>
            <a:off x="612648" y="1246270"/>
            <a:ext cx="5013488" cy="232371"/>
          </a:xfrm>
          <a:prstGeom prst="rect">
            <a:avLst/>
          </a:prstGeom>
          <a:noFill/>
        </p:spPr>
        <p:txBody>
          <a:bodyPr wrap="none" lIns="27432" tIns="27432" rIns="27432" bIns="27432" anchor="ctr">
            <a:spAutoFit/>
          </a:bodyPr>
          <a:lstStyle/>
          <a:p>
            <a:pPr algn="l"/>
            <a:r>
              <a:rPr lang="en-US" sz="1150" b="0" i="0" dirty="0">
                <a:solidFill>
                  <a:srgbClr val="6B7280"/>
                </a:solidFill>
                <a:latin typeface="Aptos"/>
              </a:rPr>
              <a:t>Evaluating college major outcomes by earnings, employment, and AI exposure</a:t>
            </a:r>
            <a:endParaRPr sz="1150" b="0" i="0" dirty="0">
              <a:solidFill>
                <a:srgbClr val="6B7280"/>
              </a:solidFill>
              <a:latin typeface="Aptos"/>
            </a:endParaRPr>
          </a:p>
        </p:txBody>
      </p:sp>
      <p:sp>
        <p:nvSpPr>
          <p:cNvPr id="6" name="TextBox 5"/>
          <p:cNvSpPr txBox="1"/>
          <p:nvPr/>
        </p:nvSpPr>
        <p:spPr>
          <a:xfrm>
            <a:off x="11435652" y="383110"/>
            <a:ext cx="177228" cy="193899"/>
          </a:xfrm>
          <a:prstGeom prst="rect">
            <a:avLst/>
          </a:prstGeom>
          <a:noFill/>
        </p:spPr>
        <p:txBody>
          <a:bodyPr wrap="none" lIns="27432" tIns="27432" rIns="27432" bIns="27432" anchor="ctr">
            <a:spAutoFit/>
          </a:bodyPr>
          <a:lstStyle/>
          <a:p>
            <a:pPr algn="r"/>
            <a:r>
              <a:rPr lang="en-CA" sz="900" b="1" i="0" dirty="0">
                <a:solidFill>
                  <a:srgbClr val="9CA3AF"/>
                </a:solidFill>
                <a:latin typeface="Aptos"/>
              </a:rPr>
              <a:t>01</a:t>
            </a:r>
            <a:endParaRPr sz="900" b="1" i="0" dirty="0">
              <a:solidFill>
                <a:srgbClr val="9CA3AF"/>
              </a:solidFill>
              <a:latin typeface="Aptos"/>
            </a:endParaRPr>
          </a:p>
        </p:txBody>
      </p:sp>
      <p:sp>
        <p:nvSpPr>
          <p:cNvPr id="7" name="TextBox 6"/>
          <p:cNvSpPr txBox="1"/>
          <p:nvPr/>
        </p:nvSpPr>
        <p:spPr>
          <a:xfrm>
            <a:off x="640080" y="1627632"/>
            <a:ext cx="2286000" cy="274320"/>
          </a:xfrm>
          <a:prstGeom prst="rect">
            <a:avLst/>
          </a:prstGeom>
          <a:noFill/>
        </p:spPr>
        <p:txBody>
          <a:bodyPr wrap="none" lIns="27432" tIns="27432" rIns="27432" bIns="27432" anchor="ctr">
            <a:spAutoFit/>
          </a:bodyPr>
          <a:lstStyle/>
          <a:p>
            <a:pPr algn="l"/>
            <a:r>
              <a:rPr sz="1000" b="1" i="0">
                <a:solidFill>
                  <a:srgbClr val="237BA5"/>
                </a:solidFill>
                <a:latin typeface="Aptos"/>
              </a:rPr>
              <a:t>EARNINGS</a:t>
            </a:r>
          </a:p>
        </p:txBody>
      </p:sp>
      <p:sp>
        <p:nvSpPr>
          <p:cNvPr id="8" name="TextBox 7"/>
          <p:cNvSpPr txBox="1"/>
          <p:nvPr/>
        </p:nvSpPr>
        <p:spPr>
          <a:xfrm>
            <a:off x="640080" y="1993392"/>
            <a:ext cx="3420000" cy="1717393"/>
          </a:xfrm>
          <a:prstGeom prst="rect">
            <a:avLst/>
          </a:prstGeom>
          <a:noFill/>
        </p:spPr>
        <p:txBody>
          <a:bodyPr wrap="square" lIns="27432" tIns="27432" rIns="27432" bIns="27432" anchor="t">
            <a:spAutoFit/>
          </a:bodyPr>
          <a:lstStyle/>
          <a:p>
            <a:r>
              <a:rPr lang="en-CA" dirty="0"/>
              <a:t>Technical and applied programs  Engineering, Computer Science, and skilled trades deliver the strongest earnings outcomes, both in absolute terms and relative to tuition cost</a:t>
            </a:r>
            <a:endParaRPr sz="1800" b="1" i="0" dirty="0">
              <a:solidFill>
                <a:srgbClr val="202124"/>
              </a:solidFill>
              <a:latin typeface="Aptos"/>
            </a:endParaRPr>
          </a:p>
        </p:txBody>
      </p:sp>
      <p:sp>
        <p:nvSpPr>
          <p:cNvPr id="9" name="TextBox 8"/>
          <p:cNvSpPr txBox="1"/>
          <p:nvPr/>
        </p:nvSpPr>
        <p:spPr>
          <a:xfrm>
            <a:off x="4343400" y="1660148"/>
            <a:ext cx="1591077" cy="209288"/>
          </a:xfrm>
          <a:prstGeom prst="rect">
            <a:avLst/>
          </a:prstGeom>
          <a:noFill/>
        </p:spPr>
        <p:txBody>
          <a:bodyPr wrap="none" lIns="27432" tIns="27432" rIns="27432" bIns="27432" anchor="ctr">
            <a:spAutoFit/>
          </a:bodyPr>
          <a:lstStyle/>
          <a:p>
            <a:pPr algn="l"/>
            <a:r>
              <a:rPr lang="en-CA" sz="1000" b="1" i="0" dirty="0">
                <a:solidFill>
                  <a:srgbClr val="237BA5"/>
                </a:solidFill>
                <a:latin typeface="Aptos"/>
              </a:rPr>
              <a:t>ARTIFICIAL INTELLIGENCE</a:t>
            </a:r>
            <a:endParaRPr sz="1000" b="1" i="0" dirty="0">
              <a:solidFill>
                <a:srgbClr val="237BA5"/>
              </a:solidFill>
              <a:latin typeface="Aptos"/>
            </a:endParaRPr>
          </a:p>
        </p:txBody>
      </p:sp>
      <p:sp>
        <p:nvSpPr>
          <p:cNvPr id="10" name="TextBox 9"/>
          <p:cNvSpPr txBox="1"/>
          <p:nvPr/>
        </p:nvSpPr>
        <p:spPr>
          <a:xfrm>
            <a:off x="4343400" y="1993392"/>
            <a:ext cx="3420000" cy="1717393"/>
          </a:xfrm>
          <a:prstGeom prst="rect">
            <a:avLst/>
          </a:prstGeom>
          <a:noFill/>
        </p:spPr>
        <p:txBody>
          <a:bodyPr wrap="square" lIns="27432" tIns="27432" rIns="27432" bIns="27432" anchor="t">
            <a:spAutoFit/>
          </a:bodyPr>
          <a:lstStyle/>
          <a:p>
            <a:r>
              <a:rPr lang="en-CA" dirty="0"/>
              <a:t>AI and expert-system exposure is heavily concentrated in Computer Science and a handful of STEM-adjacent fields; most other programs see minimal AI exposure in their linked occupations</a:t>
            </a:r>
            <a:endParaRPr sz="1800" b="1" i="0" dirty="0">
              <a:solidFill>
                <a:srgbClr val="202124"/>
              </a:solidFill>
              <a:latin typeface="Aptos"/>
            </a:endParaRPr>
          </a:p>
        </p:txBody>
      </p:sp>
      <p:sp>
        <p:nvSpPr>
          <p:cNvPr id="11" name="TextBox 10"/>
          <p:cNvSpPr txBox="1"/>
          <p:nvPr/>
        </p:nvSpPr>
        <p:spPr>
          <a:xfrm>
            <a:off x="8046720" y="1627632"/>
            <a:ext cx="2286000" cy="274320"/>
          </a:xfrm>
          <a:prstGeom prst="rect">
            <a:avLst/>
          </a:prstGeom>
          <a:noFill/>
        </p:spPr>
        <p:txBody>
          <a:bodyPr wrap="none" lIns="27432" tIns="27432" rIns="27432" bIns="27432" anchor="ctr">
            <a:spAutoFit/>
          </a:bodyPr>
          <a:lstStyle/>
          <a:p>
            <a:pPr algn="l"/>
            <a:r>
              <a:rPr sz="1000" b="1" i="0">
                <a:solidFill>
                  <a:srgbClr val="237BA5"/>
                </a:solidFill>
                <a:latin typeface="Aptos"/>
              </a:rPr>
              <a:t>EMPLOYMENT</a:t>
            </a:r>
          </a:p>
        </p:txBody>
      </p:sp>
      <p:sp>
        <p:nvSpPr>
          <p:cNvPr id="12" name="TextBox 11"/>
          <p:cNvSpPr txBox="1"/>
          <p:nvPr/>
        </p:nvSpPr>
        <p:spPr>
          <a:xfrm>
            <a:off x="8046720" y="1993392"/>
            <a:ext cx="3420000" cy="1440394"/>
          </a:xfrm>
          <a:prstGeom prst="rect">
            <a:avLst/>
          </a:prstGeom>
          <a:noFill/>
        </p:spPr>
        <p:txBody>
          <a:bodyPr wrap="square" lIns="27432" tIns="27432" rIns="27432" bIns="27432" anchor="t">
            <a:spAutoFit/>
          </a:bodyPr>
          <a:lstStyle/>
          <a:p>
            <a:r>
              <a:rPr lang="en-CA" dirty="0"/>
              <a:t>People-facing and service-oriented programs show the highest "not working" activity, while technical and hard-science programs show the lowest.</a:t>
            </a:r>
            <a:endParaRPr sz="1800" b="1" i="0" dirty="0">
              <a:solidFill>
                <a:srgbClr val="202124"/>
              </a:solidFill>
              <a:latin typeface="Aptos"/>
            </a:endParaRPr>
          </a:p>
        </p:txBody>
      </p:sp>
      <p:sp>
        <p:nvSpPr>
          <p:cNvPr id="13" name="Rounded Rectangle 12"/>
          <p:cNvSpPr/>
          <p:nvPr/>
        </p:nvSpPr>
        <p:spPr>
          <a:xfrm>
            <a:off x="640080" y="3855720"/>
            <a:ext cx="10927080" cy="1874519"/>
          </a:xfrm>
          <a:prstGeom prst="roundRect">
            <a:avLst>
              <a:gd name="adj" fmla="val 8000"/>
            </a:avLst>
          </a:prstGeom>
          <a:solidFill>
            <a:srgbClr val="F2FAFD"/>
          </a:solidFill>
          <a:ln>
            <a:solidFill>
              <a:srgbClr val="DCF2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14400" y="4130040"/>
            <a:ext cx="2011680" cy="228600"/>
          </a:xfrm>
          <a:prstGeom prst="rect">
            <a:avLst/>
          </a:prstGeom>
          <a:noFill/>
        </p:spPr>
        <p:txBody>
          <a:bodyPr wrap="none" lIns="27432" tIns="27432" rIns="27432" bIns="27432" anchor="ctr">
            <a:spAutoFit/>
          </a:bodyPr>
          <a:lstStyle/>
          <a:p>
            <a:pPr algn="l"/>
            <a:r>
              <a:rPr sz="900" b="1" i="0">
                <a:solidFill>
                  <a:srgbClr val="237BA5"/>
                </a:solidFill>
                <a:latin typeface="Aptos"/>
              </a:rPr>
              <a:t>OVERALL MESSAGE</a:t>
            </a:r>
          </a:p>
        </p:txBody>
      </p:sp>
      <p:sp>
        <p:nvSpPr>
          <p:cNvPr id="15" name="TextBox 14"/>
          <p:cNvSpPr txBox="1"/>
          <p:nvPr/>
        </p:nvSpPr>
        <p:spPr>
          <a:xfrm>
            <a:off x="914400" y="4394883"/>
            <a:ext cx="10287000" cy="1101840"/>
          </a:xfrm>
          <a:prstGeom prst="rect">
            <a:avLst/>
          </a:prstGeom>
          <a:noFill/>
        </p:spPr>
        <p:txBody>
          <a:bodyPr wrap="square" lIns="27432" tIns="27432" rIns="27432" bIns="27432" anchor="t">
            <a:spAutoFit/>
          </a:bodyPr>
          <a:lstStyle/>
          <a:p>
            <a:pPr algn="l"/>
            <a:r>
              <a:rPr lang="en-US" sz="1700" b="1" i="0" dirty="0">
                <a:solidFill>
                  <a:srgbClr val="202124"/>
                </a:solidFill>
                <a:latin typeface="Aptos"/>
              </a:rPr>
              <a:t>[Institutional selectivity is a surprisingly weak predictor of future earnings, what you study matters far more than where you study. Prospective students may be better served by evaluating specific programs based on career growth, earning potential, and AI exposure to align their program choice with their personal goals. ]</a:t>
            </a:r>
            <a:endParaRPr sz="1700" b="1" i="0" dirty="0">
              <a:solidFill>
                <a:srgbClr val="202124"/>
              </a:solidFill>
              <a:latin typeface="Aptos"/>
            </a:endParaRPr>
          </a:p>
        </p:txBody>
      </p:sp>
      <p:cxnSp>
        <p:nvCxnSpPr>
          <p:cNvPr id="16" name="Connector 15"/>
          <p:cNvCxnSpPr/>
          <p:nvPr/>
        </p:nvCxnSpPr>
        <p:spPr>
          <a:xfrm>
            <a:off x="594360" y="6446520"/>
            <a:ext cx="11000232" cy="0"/>
          </a:xfrm>
          <a:prstGeom prst="line">
            <a:avLst/>
          </a:prstGeom>
          <a:ln w="10160">
            <a:solidFill>
              <a:srgbClr val="E5E7EB"/>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46304" cy="6858000"/>
          </a:xfrm>
          <a:prstGeom prst="rect">
            <a:avLst/>
          </a:prstGeom>
          <a:solidFill>
            <a:srgbClr val="33AFE2"/>
          </a:solidFill>
          <a:ln>
            <a:solidFill>
              <a:srgbClr val="33AF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1" name="Group 10">
            <a:extLst>
              <a:ext uri="{FF2B5EF4-FFF2-40B4-BE49-F238E27FC236}">
                <a16:creationId xmlns:a16="http://schemas.microsoft.com/office/drawing/2014/main" id="{D9F85FFD-28BD-A715-F070-1BFC48D77DC6}"/>
              </a:ext>
            </a:extLst>
          </p:cNvPr>
          <p:cNvGrpSpPr/>
          <p:nvPr/>
        </p:nvGrpSpPr>
        <p:grpSpPr>
          <a:xfrm>
            <a:off x="3470569" y="2270495"/>
            <a:ext cx="5250861" cy="2317011"/>
            <a:chOff x="3470569" y="1939019"/>
            <a:chExt cx="5250861" cy="2317011"/>
          </a:xfrm>
        </p:grpSpPr>
        <p:sp>
          <p:nvSpPr>
            <p:cNvPr id="5" name="TextBox 4"/>
            <p:cNvSpPr txBox="1"/>
            <p:nvPr/>
          </p:nvSpPr>
          <p:spPr>
            <a:xfrm>
              <a:off x="5105632" y="1939019"/>
              <a:ext cx="1980735" cy="640175"/>
            </a:xfrm>
            <a:prstGeom prst="rect">
              <a:avLst/>
            </a:prstGeom>
            <a:noFill/>
          </p:spPr>
          <p:txBody>
            <a:bodyPr wrap="none" lIns="27432" tIns="27432" rIns="27432" bIns="27432" anchor="ctr">
              <a:spAutoFit/>
            </a:bodyPr>
            <a:lstStyle/>
            <a:p>
              <a:pPr algn="ctr"/>
              <a:r>
                <a:rPr sz="3800" b="1" i="0" dirty="0">
                  <a:latin typeface="Aptos"/>
                </a:rPr>
                <a:t>Earnings</a:t>
              </a:r>
            </a:p>
          </p:txBody>
        </p:sp>
        <p:sp>
          <p:nvSpPr>
            <p:cNvPr id="6" name="TextBox 5"/>
            <p:cNvSpPr txBox="1"/>
            <p:nvPr/>
          </p:nvSpPr>
          <p:spPr>
            <a:xfrm>
              <a:off x="3470569" y="3390402"/>
              <a:ext cx="5250861" cy="547842"/>
            </a:xfrm>
            <a:prstGeom prst="rect">
              <a:avLst/>
            </a:prstGeom>
            <a:noFill/>
          </p:spPr>
          <p:txBody>
            <a:bodyPr wrap="none" lIns="27432" tIns="27432" rIns="27432" bIns="27432" anchor="ctr">
              <a:spAutoFit/>
            </a:bodyPr>
            <a:lstStyle/>
            <a:p>
              <a:pPr algn="ctr"/>
              <a:r>
                <a:rPr lang="en-US" sz="1600" b="0" i="0" dirty="0">
                  <a:solidFill>
                    <a:srgbClr val="797F8C"/>
                  </a:solidFill>
                  <a:latin typeface="Aptos"/>
                </a:rPr>
                <a:t>How much do graduates earn, and how does that compare </a:t>
              </a:r>
            </a:p>
            <a:p>
              <a:pPr algn="ctr"/>
              <a:r>
                <a:rPr lang="en-US" sz="1600" b="0" i="0" dirty="0">
                  <a:solidFill>
                    <a:srgbClr val="797F8C"/>
                  </a:solidFill>
                  <a:latin typeface="Aptos"/>
                </a:rPr>
                <a:t>with the cost and selectivity of the program?</a:t>
              </a:r>
            </a:p>
          </p:txBody>
        </p:sp>
        <p:sp>
          <p:nvSpPr>
            <p:cNvPr id="7" name="TextBox 6"/>
            <p:cNvSpPr txBox="1"/>
            <p:nvPr/>
          </p:nvSpPr>
          <p:spPr>
            <a:xfrm>
              <a:off x="4690519" y="4069825"/>
              <a:ext cx="2810961" cy="186205"/>
            </a:xfrm>
            <a:prstGeom prst="rect">
              <a:avLst/>
            </a:prstGeom>
            <a:noFill/>
          </p:spPr>
          <p:txBody>
            <a:bodyPr wrap="none" lIns="27432" tIns="27432" rIns="27432" bIns="27432" anchor="ctr">
              <a:spAutoFit/>
            </a:bodyPr>
            <a:lstStyle/>
            <a:p>
              <a:pPr algn="ctr"/>
              <a:r>
                <a:rPr sz="850" b="1" i="0" dirty="0">
                  <a:solidFill>
                    <a:srgbClr val="33AFE2"/>
                  </a:solidFill>
                  <a:latin typeface="Aptos"/>
                </a:rPr>
                <a:t>PROGRAM OUTCOMES • EARNINGS • AI • EMPLOYMENT</a:t>
              </a:r>
            </a:p>
          </p:txBody>
        </p:sp>
        <p:sp>
          <p:nvSpPr>
            <p:cNvPr id="10" name="TextBox 9">
              <a:extLst>
                <a:ext uri="{FF2B5EF4-FFF2-40B4-BE49-F238E27FC236}">
                  <a16:creationId xmlns:a16="http://schemas.microsoft.com/office/drawing/2014/main" id="{0C95C500-8D9F-CDE3-1B1A-337682FF1A77}"/>
                </a:ext>
              </a:extLst>
            </p:cNvPr>
            <p:cNvSpPr txBox="1"/>
            <p:nvPr/>
          </p:nvSpPr>
          <p:spPr>
            <a:xfrm>
              <a:off x="5537089" y="2450271"/>
              <a:ext cx="1117821" cy="978729"/>
            </a:xfrm>
            <a:prstGeom prst="rect">
              <a:avLst/>
            </a:prstGeom>
            <a:noFill/>
          </p:spPr>
          <p:txBody>
            <a:bodyPr wrap="square" lIns="27432" tIns="27432" rIns="27432" bIns="27432" anchor="ctr">
              <a:spAutoFit/>
            </a:bodyPr>
            <a:lstStyle/>
            <a:p>
              <a:pPr algn="ctr"/>
              <a:r>
                <a:rPr lang="en-CA" sz="6000" b="1" i="0" dirty="0">
                  <a:solidFill>
                    <a:srgbClr val="33AFE2"/>
                  </a:solidFill>
                  <a:latin typeface="Aptos"/>
                </a:rPr>
                <a:t>1</a:t>
              </a:r>
              <a:endParaRPr sz="6000" b="1" i="0" dirty="0">
                <a:solidFill>
                  <a:srgbClr val="33AFE2"/>
                </a:solidFill>
                <a:latin typeface="Aptos"/>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4D7BFD34-EC04-FA46-07C7-FBC7DB654A55}"/>
              </a:ext>
            </a:extLst>
          </p:cNvPr>
          <p:cNvSpPr/>
          <p:nvPr/>
        </p:nvSpPr>
        <p:spPr>
          <a:xfrm>
            <a:off x="7725960" y="1664207"/>
            <a:ext cx="3841200" cy="4497103"/>
          </a:xfrm>
          <a:prstGeom prst="rect">
            <a:avLst/>
          </a:prstGeom>
          <a:solidFill>
            <a:schemeClr val="bg1"/>
          </a:solidFill>
          <a:ln>
            <a:solidFill>
              <a:schemeClr val="bg1">
                <a:lumMod val="95000"/>
              </a:schemeClr>
            </a:solidFill>
          </a:ln>
        </p:spPr>
        <p:style>
          <a:lnRef idx="1">
            <a:schemeClr val="accent1"/>
          </a:lnRef>
          <a:fillRef idx="3">
            <a:schemeClr val="accent1"/>
          </a:fillRef>
          <a:effectRef idx="2">
            <a:schemeClr val="accent1"/>
          </a:effectRef>
          <a:fontRef idx="minor">
            <a:schemeClr val="lt1"/>
          </a:fontRef>
        </p:style>
        <p:txBody>
          <a:bodyPr rtlCol="0" anchor="ctr"/>
          <a:lstStyle/>
          <a:p>
            <a:endParaRPr lang="en-CA" sz="1600" dirty="0"/>
          </a:p>
        </p:txBody>
      </p:sp>
      <p:sp>
        <p:nvSpPr>
          <p:cNvPr id="2" name="Rectangle 1"/>
          <p:cNvSpPr/>
          <p:nvPr/>
        </p:nvSpPr>
        <p:spPr>
          <a:xfrm>
            <a:off x="0" y="0"/>
            <a:ext cx="12191695" cy="73152"/>
          </a:xfrm>
          <a:prstGeom prst="rect">
            <a:avLst/>
          </a:prstGeom>
          <a:solidFill>
            <a:srgbClr val="33AFE2"/>
          </a:solidFill>
          <a:ln>
            <a:solidFill>
              <a:srgbClr val="33AF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2194560" cy="228600"/>
          </a:xfrm>
          <a:prstGeom prst="rect">
            <a:avLst/>
          </a:prstGeom>
          <a:noFill/>
        </p:spPr>
        <p:txBody>
          <a:bodyPr wrap="none" lIns="27432" tIns="27432" rIns="27432" bIns="27432" anchor="ctr">
            <a:spAutoFit/>
          </a:bodyPr>
          <a:lstStyle/>
          <a:p>
            <a:pPr algn="l"/>
            <a:r>
              <a:rPr sz="900" b="1" i="0">
                <a:solidFill>
                  <a:srgbClr val="237BA5"/>
                </a:solidFill>
                <a:latin typeface="Aptos"/>
              </a:rPr>
              <a:t>EARNINGS</a:t>
            </a:r>
          </a:p>
        </p:txBody>
      </p:sp>
      <p:sp>
        <p:nvSpPr>
          <p:cNvPr id="4" name="TextBox 3"/>
          <p:cNvSpPr txBox="1"/>
          <p:nvPr/>
        </p:nvSpPr>
        <p:spPr>
          <a:xfrm>
            <a:off x="594360" y="676052"/>
            <a:ext cx="7958141" cy="440120"/>
          </a:xfrm>
          <a:prstGeom prst="rect">
            <a:avLst/>
          </a:prstGeom>
          <a:noFill/>
        </p:spPr>
        <p:txBody>
          <a:bodyPr wrap="none" lIns="27432" tIns="27432" rIns="27432" bIns="27432" anchor="ctr">
            <a:spAutoFit/>
          </a:bodyPr>
          <a:lstStyle/>
          <a:p>
            <a:r>
              <a:rPr lang="en-US" sz="2500" b="1" dirty="0">
                <a:solidFill>
                  <a:srgbClr val="202124"/>
                </a:solidFill>
                <a:latin typeface="Aptos"/>
              </a:rPr>
              <a:t>Does school selectivity affect post-graduate earnings?</a:t>
            </a:r>
          </a:p>
        </p:txBody>
      </p:sp>
      <p:sp>
        <p:nvSpPr>
          <p:cNvPr id="5" name="TextBox 4"/>
          <p:cNvSpPr txBox="1"/>
          <p:nvPr/>
        </p:nvSpPr>
        <p:spPr>
          <a:xfrm>
            <a:off x="612648" y="1246270"/>
            <a:ext cx="5354927" cy="232371"/>
          </a:xfrm>
          <a:prstGeom prst="rect">
            <a:avLst/>
          </a:prstGeom>
          <a:noFill/>
        </p:spPr>
        <p:txBody>
          <a:bodyPr wrap="none" lIns="27432" tIns="27432" rIns="27432" bIns="27432" anchor="ctr">
            <a:spAutoFit/>
          </a:bodyPr>
          <a:lstStyle/>
          <a:p>
            <a:pPr algn="l"/>
            <a:r>
              <a:rPr lang="en-CA" sz="1150" b="0" i="0" dirty="0">
                <a:solidFill>
                  <a:srgbClr val="6B7280"/>
                </a:solidFill>
                <a:latin typeface="Aptos"/>
              </a:rPr>
              <a:t>The correlation </a:t>
            </a:r>
            <a:r>
              <a:rPr lang="en-CA" sz="1150" dirty="0">
                <a:solidFill>
                  <a:srgbClr val="6B7280"/>
                </a:solidFill>
                <a:latin typeface="Aptos"/>
              </a:rPr>
              <a:t>between the </a:t>
            </a:r>
            <a:r>
              <a:rPr lang="en-CA" sz="1150" b="0" i="0" dirty="0">
                <a:solidFill>
                  <a:srgbClr val="6B7280"/>
                </a:solidFill>
                <a:latin typeface="Aptos"/>
              </a:rPr>
              <a:t>admission rate and 4-year earnings across all programs</a:t>
            </a:r>
            <a:endParaRPr sz="1150" b="0" i="0" dirty="0">
              <a:solidFill>
                <a:srgbClr val="6B7280"/>
              </a:solidFill>
              <a:latin typeface="Aptos"/>
            </a:endParaRPr>
          </a:p>
        </p:txBody>
      </p:sp>
      <p:sp>
        <p:nvSpPr>
          <p:cNvPr id="6" name="TextBox 5"/>
          <p:cNvSpPr txBox="1"/>
          <p:nvPr/>
        </p:nvSpPr>
        <p:spPr>
          <a:xfrm>
            <a:off x="11435652" y="383110"/>
            <a:ext cx="177228" cy="193899"/>
          </a:xfrm>
          <a:prstGeom prst="rect">
            <a:avLst/>
          </a:prstGeom>
          <a:noFill/>
        </p:spPr>
        <p:txBody>
          <a:bodyPr wrap="none" lIns="27432" tIns="27432" rIns="27432" bIns="27432" anchor="ctr">
            <a:spAutoFit/>
          </a:bodyPr>
          <a:lstStyle/>
          <a:p>
            <a:pPr algn="r"/>
            <a:r>
              <a:rPr lang="en-CA" sz="900" b="1" dirty="0">
                <a:solidFill>
                  <a:srgbClr val="9CA3AF"/>
                </a:solidFill>
                <a:latin typeface="Aptos"/>
              </a:rPr>
              <a:t>03</a:t>
            </a:r>
            <a:endParaRPr sz="900" b="1" i="0" dirty="0">
              <a:solidFill>
                <a:srgbClr val="9CA3AF"/>
              </a:solidFill>
              <a:latin typeface="Aptos"/>
            </a:endParaRPr>
          </a:p>
        </p:txBody>
      </p:sp>
      <p:grpSp>
        <p:nvGrpSpPr>
          <p:cNvPr id="17" name="Group 16">
            <a:extLst>
              <a:ext uri="{FF2B5EF4-FFF2-40B4-BE49-F238E27FC236}">
                <a16:creationId xmlns:a16="http://schemas.microsoft.com/office/drawing/2014/main" id="{65F3BF62-7281-75AD-0D2C-591895EAA0E3}"/>
              </a:ext>
            </a:extLst>
          </p:cNvPr>
          <p:cNvGrpSpPr/>
          <p:nvPr/>
        </p:nvGrpSpPr>
        <p:grpSpPr>
          <a:xfrm>
            <a:off x="594360" y="1664207"/>
            <a:ext cx="6583680" cy="4497103"/>
            <a:chOff x="594360" y="1664207"/>
            <a:chExt cx="6583680" cy="4497103"/>
          </a:xfrm>
        </p:grpSpPr>
        <p:sp>
          <p:nvSpPr>
            <p:cNvPr id="7" name="Rounded Rectangle 6"/>
            <p:cNvSpPr/>
            <p:nvPr/>
          </p:nvSpPr>
          <p:spPr>
            <a:xfrm>
              <a:off x="594360" y="1664207"/>
              <a:ext cx="6583680" cy="4497103"/>
            </a:xfrm>
            <a:prstGeom prst="roundRect">
              <a:avLst>
                <a:gd name="adj" fmla="val 8000"/>
              </a:avLst>
            </a:prstGeom>
            <a:solidFill>
              <a:srgbClr val="F2FAFD"/>
            </a:solidFill>
            <a:ln>
              <a:solidFill>
                <a:srgbClr val="DCF2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ptos" panose="020B0004020202020204" pitchFamily="34" charset="0"/>
              </a:endParaRPr>
            </a:p>
          </p:txBody>
        </p:sp>
        <p:sp>
          <p:nvSpPr>
            <p:cNvPr id="8" name="Rounded Rectangle 7"/>
            <p:cNvSpPr/>
            <p:nvPr/>
          </p:nvSpPr>
          <p:spPr>
            <a:xfrm>
              <a:off x="795528" y="1865376"/>
              <a:ext cx="6181344" cy="4052446"/>
            </a:xfrm>
            <a:prstGeom prst="roundRect">
              <a:avLst>
                <a:gd name="adj" fmla="val 8000"/>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ptos" panose="020B0004020202020204" pitchFamily="34" charset="0"/>
              </a:endParaRPr>
            </a:p>
          </p:txBody>
        </p:sp>
      </p:grpSp>
      <p:cxnSp>
        <p:nvCxnSpPr>
          <p:cNvPr id="12" name="Connector 11"/>
          <p:cNvCxnSpPr/>
          <p:nvPr/>
        </p:nvCxnSpPr>
        <p:spPr>
          <a:xfrm>
            <a:off x="594360" y="6446520"/>
            <a:ext cx="11000232" cy="0"/>
          </a:xfrm>
          <a:prstGeom prst="line">
            <a:avLst/>
          </a:prstGeom>
          <a:ln w="10160">
            <a:solidFill>
              <a:srgbClr val="E5E7EB"/>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21792" y="6498272"/>
            <a:ext cx="7664855" cy="170816"/>
          </a:xfrm>
          <a:prstGeom prst="rect">
            <a:avLst/>
          </a:prstGeom>
          <a:noFill/>
        </p:spPr>
        <p:txBody>
          <a:bodyPr wrap="none" lIns="27432" tIns="27432" rIns="27432" bIns="27432" anchor="ctr">
            <a:spAutoFit/>
          </a:bodyPr>
          <a:lstStyle/>
          <a:p>
            <a:pPr algn="l"/>
            <a:r>
              <a:rPr sz="750" b="0" i="0" dirty="0">
                <a:solidFill>
                  <a:srgbClr val="9CA3AF"/>
                </a:solidFill>
                <a:latin typeface="Aptos"/>
              </a:rPr>
              <a:t>Source: </a:t>
            </a:r>
            <a:r>
              <a:rPr lang="en-US" sz="750" b="0" i="0" dirty="0">
                <a:solidFill>
                  <a:srgbClr val="9CA3AF"/>
                </a:solidFill>
                <a:latin typeface="Aptos"/>
              </a:rPr>
              <a:t>Lab, M. (2026, August 1). College majors 2026: Earnings, Debt, jobs, AI. Kaggle. https://www.kaggle.com/datasets/kylefengkfeng209/college-majors-2026-earnings-debt-jobs-ai </a:t>
            </a:r>
            <a:endParaRPr sz="750" b="0" i="0" dirty="0">
              <a:solidFill>
                <a:srgbClr val="9CA3AF"/>
              </a:solidFill>
              <a:latin typeface="Aptos"/>
            </a:endParaRPr>
          </a:p>
        </p:txBody>
      </p:sp>
      <p:sp>
        <p:nvSpPr>
          <p:cNvPr id="19" name="TextBox 18">
            <a:extLst>
              <a:ext uri="{FF2B5EF4-FFF2-40B4-BE49-F238E27FC236}">
                <a16:creationId xmlns:a16="http://schemas.microsoft.com/office/drawing/2014/main" id="{CE7AE393-7992-F2FF-6973-F37247C26296}"/>
              </a:ext>
            </a:extLst>
          </p:cNvPr>
          <p:cNvSpPr txBox="1"/>
          <p:nvPr/>
        </p:nvSpPr>
        <p:spPr>
          <a:xfrm>
            <a:off x="1508760" y="1962863"/>
            <a:ext cx="4754880" cy="292608"/>
          </a:xfrm>
          <a:prstGeom prst="rect">
            <a:avLst/>
          </a:prstGeom>
          <a:noFill/>
        </p:spPr>
        <p:txBody>
          <a:bodyPr wrap="none" lIns="27432" tIns="27432" rIns="27432" bIns="27432" anchor="ctr">
            <a:spAutoFit/>
          </a:bodyPr>
          <a:lstStyle/>
          <a:p>
            <a:pPr algn="ctr"/>
            <a:r>
              <a:rPr sz="1300" b="1" i="0" dirty="0">
                <a:solidFill>
                  <a:srgbClr val="237BA5"/>
                </a:solidFill>
                <a:latin typeface="Aptos"/>
              </a:rPr>
              <a:t>GENERAL-LEVEL CHART</a:t>
            </a:r>
          </a:p>
        </p:txBody>
      </p:sp>
      <p:sp>
        <p:nvSpPr>
          <p:cNvPr id="24" name="TextBox 23">
            <a:extLst>
              <a:ext uri="{FF2B5EF4-FFF2-40B4-BE49-F238E27FC236}">
                <a16:creationId xmlns:a16="http://schemas.microsoft.com/office/drawing/2014/main" id="{E3D89BD1-EF92-2E26-C8BB-A19E09DFD320}"/>
              </a:ext>
            </a:extLst>
          </p:cNvPr>
          <p:cNvSpPr txBox="1"/>
          <p:nvPr/>
        </p:nvSpPr>
        <p:spPr>
          <a:xfrm>
            <a:off x="7838237" y="2897096"/>
            <a:ext cx="3616646" cy="2031325"/>
          </a:xfrm>
          <a:prstGeom prst="rect">
            <a:avLst/>
          </a:prstGeom>
          <a:noFill/>
        </p:spPr>
        <p:txBody>
          <a:bodyPr wrap="square" rtlCol="0">
            <a:spAutoFit/>
          </a:bodyPr>
          <a:lstStyle/>
          <a:p>
            <a:r>
              <a:rPr lang="en-CA" sz="1400" b="1" dirty="0">
                <a:solidFill>
                  <a:srgbClr val="33AFE2"/>
                </a:solidFill>
                <a:latin typeface="Aptos" panose="020B0004020202020204" pitchFamily="34" charset="0"/>
              </a:rPr>
              <a:t>Selectivity matters but only weakly overall</a:t>
            </a:r>
          </a:p>
          <a:p>
            <a:endParaRPr lang="en-CA" sz="1400" b="1" dirty="0">
              <a:solidFill>
                <a:srgbClr val="202124"/>
              </a:solidFill>
              <a:latin typeface="Aptos" panose="020B0004020202020204" pitchFamily="34" charset="0"/>
            </a:endParaRPr>
          </a:p>
          <a:p>
            <a:pPr marL="285750" indent="-285750">
              <a:buFont typeface="Arial" panose="020B0604020202020204" pitchFamily="34" charset="0"/>
              <a:buChar char="•"/>
            </a:pPr>
            <a:r>
              <a:rPr lang="en-CA" sz="1400" dirty="0">
                <a:solidFill>
                  <a:srgbClr val="202124"/>
                </a:solidFill>
                <a:latin typeface="Aptos" panose="020B0004020202020204" pitchFamily="34" charset="0"/>
              </a:rPr>
              <a:t> The </a:t>
            </a:r>
            <a:r>
              <a:rPr lang="en-CA" sz="1400" b="1" dirty="0">
                <a:solidFill>
                  <a:srgbClr val="202124"/>
                </a:solidFill>
                <a:latin typeface="Aptos" panose="020B0004020202020204" pitchFamily="34" charset="0"/>
              </a:rPr>
              <a:t>correlation</a:t>
            </a:r>
            <a:r>
              <a:rPr lang="en-CA" sz="1400" dirty="0">
                <a:solidFill>
                  <a:srgbClr val="202124"/>
                </a:solidFill>
                <a:latin typeface="Aptos" panose="020B0004020202020204" pitchFamily="34" charset="0"/>
              </a:rPr>
              <a:t> between admission rate and 4-year earnings is </a:t>
            </a:r>
            <a:r>
              <a:rPr lang="en-CA" sz="1400" b="1" dirty="0">
                <a:solidFill>
                  <a:srgbClr val="202124"/>
                </a:solidFill>
                <a:latin typeface="Aptos" panose="020B0004020202020204" pitchFamily="34" charset="0"/>
              </a:rPr>
              <a:t>-0.274</a:t>
            </a:r>
          </a:p>
          <a:p>
            <a:pPr marL="285750" indent="-285750">
              <a:buFont typeface="Arial" panose="020B0604020202020204" pitchFamily="34" charset="0"/>
              <a:buChar char="•"/>
            </a:pPr>
            <a:endParaRPr lang="en-CA" sz="1400" dirty="0">
              <a:solidFill>
                <a:srgbClr val="202124"/>
              </a:solidFill>
              <a:latin typeface="Aptos" panose="020B0004020202020204" pitchFamily="34" charset="0"/>
            </a:endParaRPr>
          </a:p>
          <a:p>
            <a:pPr marL="285750" indent="-285750">
              <a:buFont typeface="Arial" panose="020B0604020202020204" pitchFamily="34" charset="0"/>
              <a:buChar char="•"/>
            </a:pPr>
            <a:r>
              <a:rPr lang="en-CA" sz="1400" dirty="0">
                <a:solidFill>
                  <a:srgbClr val="202124"/>
                </a:solidFill>
                <a:latin typeface="Aptos" panose="020B0004020202020204" pitchFamily="34" charset="0"/>
              </a:rPr>
              <a:t>Graduates from </a:t>
            </a:r>
            <a:r>
              <a:rPr lang="en-CA" sz="1400" b="1" dirty="0">
                <a:solidFill>
                  <a:srgbClr val="202124"/>
                </a:solidFill>
                <a:latin typeface="Aptos" panose="020B0004020202020204" pitchFamily="34" charset="0"/>
              </a:rPr>
              <a:t>more selective schools' trend towards higher earnings</a:t>
            </a:r>
            <a:r>
              <a:rPr lang="en-CA" sz="1400" dirty="0">
                <a:solidFill>
                  <a:srgbClr val="202124"/>
                </a:solidFill>
                <a:latin typeface="Aptos" panose="020B0004020202020204" pitchFamily="34" charset="0"/>
              </a:rPr>
              <a:t>, but with a very loose relationship</a:t>
            </a:r>
            <a:endParaRPr lang="en-CA" sz="1400" dirty="0">
              <a:latin typeface="Aptos" panose="020B0004020202020204" pitchFamily="34" charset="0"/>
            </a:endParaRPr>
          </a:p>
          <a:p>
            <a:endParaRPr lang="en-CA" sz="1400" dirty="0">
              <a:latin typeface="Aptos" panose="020B0004020202020204" pitchFamily="34" charset="0"/>
            </a:endParaRPr>
          </a:p>
        </p:txBody>
      </p:sp>
      <p:pic>
        <p:nvPicPr>
          <p:cNvPr id="25" name="Picture 24">
            <a:extLst>
              <a:ext uri="{FF2B5EF4-FFF2-40B4-BE49-F238E27FC236}">
                <a16:creationId xmlns:a16="http://schemas.microsoft.com/office/drawing/2014/main" id="{C675B01C-B2CE-5853-B7F7-A3F818D719A0}"/>
              </a:ext>
            </a:extLst>
          </p:cNvPr>
          <p:cNvPicPr>
            <a:picLocks noChangeAspect="1"/>
          </p:cNvPicPr>
          <p:nvPr/>
        </p:nvPicPr>
        <p:blipFill>
          <a:blip r:embed="rId2"/>
          <a:stretch>
            <a:fillRect/>
          </a:stretch>
        </p:blipFill>
        <p:spPr>
          <a:xfrm>
            <a:off x="1475960" y="2242507"/>
            <a:ext cx="4820481" cy="352603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391BE4-A561-EA1C-3DB2-A344B4196450}"/>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3616206A-D9D8-0696-1EDB-A5027D86D551}"/>
              </a:ext>
            </a:extLst>
          </p:cNvPr>
          <p:cNvSpPr/>
          <p:nvPr/>
        </p:nvSpPr>
        <p:spPr>
          <a:xfrm>
            <a:off x="7725960" y="1664207"/>
            <a:ext cx="3841200" cy="4497103"/>
          </a:xfrm>
          <a:prstGeom prst="rect">
            <a:avLst/>
          </a:prstGeom>
          <a:solidFill>
            <a:schemeClr val="bg1"/>
          </a:solidFill>
          <a:ln>
            <a:solidFill>
              <a:schemeClr val="bg1">
                <a:lumMod val="9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CA" dirty="0">
              <a:solidFill>
                <a:schemeClr val="tx1"/>
              </a:solidFill>
            </a:endParaRPr>
          </a:p>
        </p:txBody>
      </p:sp>
      <p:sp>
        <p:nvSpPr>
          <p:cNvPr id="2" name="Rectangle 1">
            <a:extLst>
              <a:ext uri="{FF2B5EF4-FFF2-40B4-BE49-F238E27FC236}">
                <a16:creationId xmlns:a16="http://schemas.microsoft.com/office/drawing/2014/main" id="{F3DA234E-A617-AE68-3168-04EA002A2FBE}"/>
              </a:ext>
            </a:extLst>
          </p:cNvPr>
          <p:cNvSpPr/>
          <p:nvPr/>
        </p:nvSpPr>
        <p:spPr>
          <a:xfrm>
            <a:off x="0" y="0"/>
            <a:ext cx="12191695" cy="73152"/>
          </a:xfrm>
          <a:prstGeom prst="rect">
            <a:avLst/>
          </a:prstGeom>
          <a:solidFill>
            <a:srgbClr val="33AFE2"/>
          </a:solidFill>
          <a:ln>
            <a:solidFill>
              <a:srgbClr val="33AF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6B1C74E5-B2E6-8834-1283-CB1B5EE1FB94}"/>
              </a:ext>
            </a:extLst>
          </p:cNvPr>
          <p:cNvSpPr txBox="1"/>
          <p:nvPr/>
        </p:nvSpPr>
        <p:spPr>
          <a:xfrm>
            <a:off x="594360" y="320040"/>
            <a:ext cx="2194560" cy="228600"/>
          </a:xfrm>
          <a:prstGeom prst="rect">
            <a:avLst/>
          </a:prstGeom>
          <a:noFill/>
        </p:spPr>
        <p:txBody>
          <a:bodyPr wrap="none" lIns="27432" tIns="27432" rIns="27432" bIns="27432" anchor="ctr">
            <a:spAutoFit/>
          </a:bodyPr>
          <a:lstStyle/>
          <a:p>
            <a:pPr algn="l"/>
            <a:r>
              <a:rPr sz="900" b="1" i="0">
                <a:solidFill>
                  <a:srgbClr val="237BA5"/>
                </a:solidFill>
                <a:latin typeface="Aptos"/>
              </a:rPr>
              <a:t>EARNINGS</a:t>
            </a:r>
          </a:p>
        </p:txBody>
      </p:sp>
      <p:sp>
        <p:nvSpPr>
          <p:cNvPr id="4" name="TextBox 3">
            <a:extLst>
              <a:ext uri="{FF2B5EF4-FFF2-40B4-BE49-F238E27FC236}">
                <a16:creationId xmlns:a16="http://schemas.microsoft.com/office/drawing/2014/main" id="{1DDB9316-B408-7FC2-0BC0-BFC6655FA393}"/>
              </a:ext>
            </a:extLst>
          </p:cNvPr>
          <p:cNvSpPr txBox="1"/>
          <p:nvPr/>
        </p:nvSpPr>
        <p:spPr>
          <a:xfrm>
            <a:off x="594360" y="676052"/>
            <a:ext cx="7958141" cy="440120"/>
          </a:xfrm>
          <a:prstGeom prst="rect">
            <a:avLst/>
          </a:prstGeom>
          <a:noFill/>
        </p:spPr>
        <p:txBody>
          <a:bodyPr wrap="none" lIns="27432" tIns="27432" rIns="27432" bIns="27432" anchor="ctr">
            <a:spAutoFit/>
          </a:bodyPr>
          <a:lstStyle/>
          <a:p>
            <a:r>
              <a:rPr lang="en-US" sz="2500" b="1" dirty="0">
                <a:solidFill>
                  <a:srgbClr val="202124"/>
                </a:solidFill>
                <a:latin typeface="Aptos"/>
              </a:rPr>
              <a:t>Does school selectivity affect post-graduate earnings?</a:t>
            </a:r>
          </a:p>
        </p:txBody>
      </p:sp>
      <p:sp>
        <p:nvSpPr>
          <p:cNvPr id="5" name="TextBox 4">
            <a:extLst>
              <a:ext uri="{FF2B5EF4-FFF2-40B4-BE49-F238E27FC236}">
                <a16:creationId xmlns:a16="http://schemas.microsoft.com/office/drawing/2014/main" id="{39EFFABC-9A07-3DC1-FC56-ADB8C8FA7902}"/>
              </a:ext>
            </a:extLst>
          </p:cNvPr>
          <p:cNvSpPr txBox="1"/>
          <p:nvPr/>
        </p:nvSpPr>
        <p:spPr>
          <a:xfrm>
            <a:off x="612648" y="1246270"/>
            <a:ext cx="5866286" cy="232371"/>
          </a:xfrm>
          <a:prstGeom prst="rect">
            <a:avLst/>
          </a:prstGeom>
          <a:noFill/>
        </p:spPr>
        <p:txBody>
          <a:bodyPr wrap="none" lIns="27432" tIns="27432" rIns="27432" bIns="27432" anchor="ctr">
            <a:spAutoFit/>
          </a:bodyPr>
          <a:lstStyle/>
          <a:p>
            <a:pPr algn="l"/>
            <a:r>
              <a:rPr lang="en-CA" sz="1150" b="0" i="0" dirty="0">
                <a:solidFill>
                  <a:srgbClr val="6B7280"/>
                </a:solidFill>
                <a:latin typeface="Aptos"/>
              </a:rPr>
              <a:t>Comparing the correlation between admission rate and 4-year earnings across all programs</a:t>
            </a:r>
            <a:endParaRPr sz="1150" b="0" i="0" dirty="0">
              <a:solidFill>
                <a:srgbClr val="6B7280"/>
              </a:solidFill>
              <a:latin typeface="Aptos"/>
            </a:endParaRPr>
          </a:p>
        </p:txBody>
      </p:sp>
      <p:sp>
        <p:nvSpPr>
          <p:cNvPr id="6" name="TextBox 5">
            <a:extLst>
              <a:ext uri="{FF2B5EF4-FFF2-40B4-BE49-F238E27FC236}">
                <a16:creationId xmlns:a16="http://schemas.microsoft.com/office/drawing/2014/main" id="{19DF75D9-4730-BEB9-1B3A-2063EBB5B142}"/>
              </a:ext>
            </a:extLst>
          </p:cNvPr>
          <p:cNvSpPr txBox="1"/>
          <p:nvPr/>
        </p:nvSpPr>
        <p:spPr>
          <a:xfrm>
            <a:off x="11435652" y="383110"/>
            <a:ext cx="177228" cy="193899"/>
          </a:xfrm>
          <a:prstGeom prst="rect">
            <a:avLst/>
          </a:prstGeom>
          <a:noFill/>
        </p:spPr>
        <p:txBody>
          <a:bodyPr wrap="none" lIns="27432" tIns="27432" rIns="27432" bIns="27432" anchor="ctr">
            <a:spAutoFit/>
          </a:bodyPr>
          <a:lstStyle/>
          <a:p>
            <a:pPr algn="r"/>
            <a:r>
              <a:rPr sz="900" b="1" i="0" dirty="0">
                <a:solidFill>
                  <a:srgbClr val="9CA3AF"/>
                </a:solidFill>
                <a:latin typeface="Aptos"/>
              </a:rPr>
              <a:t>0</a:t>
            </a:r>
            <a:r>
              <a:rPr lang="en-CA" sz="900" b="1" i="0" dirty="0">
                <a:solidFill>
                  <a:srgbClr val="9CA3AF"/>
                </a:solidFill>
                <a:latin typeface="Aptos"/>
              </a:rPr>
              <a:t>4</a:t>
            </a:r>
            <a:endParaRPr sz="900" b="1" i="0" dirty="0">
              <a:solidFill>
                <a:srgbClr val="9CA3AF"/>
              </a:solidFill>
              <a:latin typeface="Aptos"/>
            </a:endParaRPr>
          </a:p>
        </p:txBody>
      </p:sp>
      <p:grpSp>
        <p:nvGrpSpPr>
          <p:cNvPr id="17" name="Group 16">
            <a:extLst>
              <a:ext uri="{FF2B5EF4-FFF2-40B4-BE49-F238E27FC236}">
                <a16:creationId xmlns:a16="http://schemas.microsoft.com/office/drawing/2014/main" id="{AB87E1D1-1869-4674-5D48-21E2C6393FE1}"/>
              </a:ext>
            </a:extLst>
          </p:cNvPr>
          <p:cNvGrpSpPr/>
          <p:nvPr/>
        </p:nvGrpSpPr>
        <p:grpSpPr>
          <a:xfrm>
            <a:off x="594360" y="1664207"/>
            <a:ext cx="6583680" cy="4497103"/>
            <a:chOff x="594360" y="1664207"/>
            <a:chExt cx="6583680" cy="4497103"/>
          </a:xfrm>
        </p:grpSpPr>
        <p:sp>
          <p:nvSpPr>
            <p:cNvPr id="7" name="Rounded Rectangle 6">
              <a:extLst>
                <a:ext uri="{FF2B5EF4-FFF2-40B4-BE49-F238E27FC236}">
                  <a16:creationId xmlns:a16="http://schemas.microsoft.com/office/drawing/2014/main" id="{40D7C86E-8867-1F75-452F-9046FE8F015F}"/>
                </a:ext>
              </a:extLst>
            </p:cNvPr>
            <p:cNvSpPr/>
            <p:nvPr/>
          </p:nvSpPr>
          <p:spPr>
            <a:xfrm>
              <a:off x="594360" y="1664207"/>
              <a:ext cx="6583680" cy="4497103"/>
            </a:xfrm>
            <a:prstGeom prst="roundRect">
              <a:avLst>
                <a:gd name="adj" fmla="val 8000"/>
              </a:avLst>
            </a:prstGeom>
            <a:solidFill>
              <a:srgbClr val="F2FAFD"/>
            </a:solidFill>
            <a:ln>
              <a:solidFill>
                <a:srgbClr val="DCF2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a:extLst>
                <a:ext uri="{FF2B5EF4-FFF2-40B4-BE49-F238E27FC236}">
                  <a16:creationId xmlns:a16="http://schemas.microsoft.com/office/drawing/2014/main" id="{C4A03D13-D225-B5CF-8DFB-E7F4AFE42220}"/>
                </a:ext>
              </a:extLst>
            </p:cNvPr>
            <p:cNvSpPr/>
            <p:nvPr/>
          </p:nvSpPr>
          <p:spPr>
            <a:xfrm>
              <a:off x="795528" y="1865376"/>
              <a:ext cx="6181344" cy="4052446"/>
            </a:xfrm>
            <a:prstGeom prst="roundRect">
              <a:avLst>
                <a:gd name="adj" fmla="val 8000"/>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cxnSp>
        <p:nvCxnSpPr>
          <p:cNvPr id="12" name="Connector 11">
            <a:extLst>
              <a:ext uri="{FF2B5EF4-FFF2-40B4-BE49-F238E27FC236}">
                <a16:creationId xmlns:a16="http://schemas.microsoft.com/office/drawing/2014/main" id="{57D1C526-BBB3-4B3F-56C4-94F170468CC8}"/>
              </a:ext>
            </a:extLst>
          </p:cNvPr>
          <p:cNvCxnSpPr/>
          <p:nvPr/>
        </p:nvCxnSpPr>
        <p:spPr>
          <a:xfrm>
            <a:off x="594360" y="6446520"/>
            <a:ext cx="11000232" cy="0"/>
          </a:xfrm>
          <a:prstGeom prst="line">
            <a:avLst/>
          </a:prstGeom>
          <a:ln w="10160">
            <a:solidFill>
              <a:srgbClr val="E5E7EB"/>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3B526EAC-1815-2DB4-5D23-BCECC69374C0}"/>
              </a:ext>
            </a:extLst>
          </p:cNvPr>
          <p:cNvSpPr txBox="1"/>
          <p:nvPr/>
        </p:nvSpPr>
        <p:spPr>
          <a:xfrm>
            <a:off x="621792" y="6498272"/>
            <a:ext cx="7618368" cy="170816"/>
          </a:xfrm>
          <a:prstGeom prst="rect">
            <a:avLst/>
          </a:prstGeom>
          <a:noFill/>
        </p:spPr>
        <p:txBody>
          <a:bodyPr wrap="none" lIns="27432" tIns="27432" rIns="27432" bIns="27432" anchor="ctr">
            <a:spAutoFit/>
          </a:bodyPr>
          <a:lstStyle/>
          <a:p>
            <a:pPr algn="l"/>
            <a:r>
              <a:rPr lang="en-US" sz="750" b="0" i="0" dirty="0">
                <a:solidFill>
                  <a:srgbClr val="9CA3AF"/>
                </a:solidFill>
                <a:latin typeface="Aptos"/>
              </a:rPr>
              <a:t>Source: Lab, M. (2026, August 1). College majors 2026: Earnings, Debt, jobs, AI. Kaggle. https://www.kaggle.com/datasets/kylefengkfeng209/college-majors-2026-earnings-debt-jobs-ai </a:t>
            </a:r>
            <a:endParaRPr sz="750" b="0" i="0" dirty="0">
              <a:solidFill>
                <a:srgbClr val="9CA3AF"/>
              </a:solidFill>
              <a:latin typeface="Aptos"/>
            </a:endParaRPr>
          </a:p>
        </p:txBody>
      </p:sp>
      <p:sp>
        <p:nvSpPr>
          <p:cNvPr id="19" name="TextBox 18">
            <a:extLst>
              <a:ext uri="{FF2B5EF4-FFF2-40B4-BE49-F238E27FC236}">
                <a16:creationId xmlns:a16="http://schemas.microsoft.com/office/drawing/2014/main" id="{E077FEC1-3F0F-4BBB-665F-16B4EBDF254F}"/>
              </a:ext>
            </a:extLst>
          </p:cNvPr>
          <p:cNvSpPr txBox="1"/>
          <p:nvPr/>
        </p:nvSpPr>
        <p:spPr>
          <a:xfrm>
            <a:off x="2903883" y="1981439"/>
            <a:ext cx="1964641" cy="255455"/>
          </a:xfrm>
          <a:prstGeom prst="rect">
            <a:avLst/>
          </a:prstGeom>
          <a:noFill/>
        </p:spPr>
        <p:txBody>
          <a:bodyPr wrap="none" lIns="27432" tIns="27432" rIns="27432" bIns="27432" anchor="ctr">
            <a:spAutoFit/>
          </a:bodyPr>
          <a:lstStyle/>
          <a:p>
            <a:pPr algn="ctr"/>
            <a:r>
              <a:rPr lang="en-CA" sz="1300" b="1" dirty="0">
                <a:solidFill>
                  <a:srgbClr val="237BA5"/>
                </a:solidFill>
                <a:latin typeface="Aptos"/>
              </a:rPr>
              <a:t>PROGRAM-LEVEL</a:t>
            </a:r>
            <a:r>
              <a:rPr sz="1300" b="1" i="0" dirty="0">
                <a:solidFill>
                  <a:srgbClr val="237BA5"/>
                </a:solidFill>
                <a:latin typeface="Aptos"/>
              </a:rPr>
              <a:t> CHART</a:t>
            </a:r>
          </a:p>
        </p:txBody>
      </p:sp>
      <p:pic>
        <p:nvPicPr>
          <p:cNvPr id="10" name="Picture 9">
            <a:extLst>
              <a:ext uri="{FF2B5EF4-FFF2-40B4-BE49-F238E27FC236}">
                <a16:creationId xmlns:a16="http://schemas.microsoft.com/office/drawing/2014/main" id="{9649DD96-8910-4DC6-5A46-718456A7210F}"/>
              </a:ext>
            </a:extLst>
          </p:cNvPr>
          <p:cNvPicPr>
            <a:picLocks noChangeAspect="1"/>
          </p:cNvPicPr>
          <p:nvPr/>
        </p:nvPicPr>
        <p:blipFill>
          <a:blip r:embed="rId2"/>
          <a:stretch>
            <a:fillRect/>
          </a:stretch>
        </p:blipFill>
        <p:spPr>
          <a:xfrm>
            <a:off x="1717147" y="2255470"/>
            <a:ext cx="4338106" cy="3514847"/>
          </a:xfrm>
          <a:prstGeom prst="rect">
            <a:avLst/>
          </a:prstGeom>
        </p:spPr>
      </p:pic>
      <p:sp>
        <p:nvSpPr>
          <p:cNvPr id="11" name="TextBox 10">
            <a:extLst>
              <a:ext uri="{FF2B5EF4-FFF2-40B4-BE49-F238E27FC236}">
                <a16:creationId xmlns:a16="http://schemas.microsoft.com/office/drawing/2014/main" id="{461C31E1-97E3-3DD7-DB08-DE21DE60A049}"/>
              </a:ext>
            </a:extLst>
          </p:cNvPr>
          <p:cNvSpPr txBox="1"/>
          <p:nvPr/>
        </p:nvSpPr>
        <p:spPr>
          <a:xfrm>
            <a:off x="7837560" y="2539877"/>
            <a:ext cx="3618000" cy="2745763"/>
          </a:xfrm>
          <a:prstGeom prst="rect">
            <a:avLst/>
          </a:prstGeom>
          <a:noFill/>
        </p:spPr>
        <p:txBody>
          <a:bodyPr wrap="square" rtlCol="0">
            <a:noAutofit/>
          </a:bodyPr>
          <a:lstStyle/>
          <a:p>
            <a:r>
              <a:rPr lang="en-CA" sz="1400" b="1" dirty="0">
                <a:solidFill>
                  <a:srgbClr val="33AFE2"/>
                </a:solidFill>
              </a:rPr>
              <a:t>It matters a lot more in some programs than others</a:t>
            </a:r>
          </a:p>
          <a:p>
            <a:endParaRPr lang="en-CA" sz="1400" b="1" dirty="0"/>
          </a:p>
          <a:p>
            <a:pPr marL="285750" indent="-285750">
              <a:buFont typeface="Arial" panose="020B0604020202020204" pitchFamily="34" charset="0"/>
              <a:buChar char="•"/>
            </a:pPr>
            <a:r>
              <a:rPr lang="en-CA" sz="1400" b="1" dirty="0"/>
              <a:t>Mathematics &amp; Statistics</a:t>
            </a:r>
            <a:r>
              <a:rPr lang="en-CA" sz="1400" dirty="0"/>
              <a:t>, </a:t>
            </a:r>
            <a:r>
              <a:rPr lang="en-CA" sz="1400" b="1" dirty="0"/>
              <a:t>History, Computer/Info Sciences</a:t>
            </a:r>
            <a:r>
              <a:rPr lang="en-CA" sz="1400" dirty="0"/>
              <a:t>, and </a:t>
            </a:r>
            <a:r>
              <a:rPr lang="en-CA" sz="1400" b="1" dirty="0"/>
              <a:t>Social Sciences </a:t>
            </a:r>
            <a:r>
              <a:rPr lang="en-CA" sz="1400" dirty="0"/>
              <a:t>show the strongest link between selectivity and earnings</a:t>
            </a:r>
          </a:p>
          <a:p>
            <a:endParaRPr lang="en-CA" sz="1400" dirty="0"/>
          </a:p>
          <a:p>
            <a:pPr marL="285750" indent="-285750">
              <a:buFont typeface="Arial" panose="020B0604020202020204" pitchFamily="34" charset="0"/>
              <a:buChar char="•"/>
            </a:pPr>
            <a:r>
              <a:rPr lang="en-CA" sz="1400" dirty="0"/>
              <a:t>Programs like </a:t>
            </a:r>
            <a:r>
              <a:rPr lang="en-CA" sz="1400" b="1" dirty="0"/>
              <a:t>Military Technologies</a:t>
            </a:r>
            <a:r>
              <a:rPr lang="en-CA" sz="1400" dirty="0"/>
              <a:t> and </a:t>
            </a:r>
            <a:r>
              <a:rPr lang="en-CA" sz="1400" b="1" dirty="0"/>
              <a:t>Construction Trades</a:t>
            </a:r>
            <a:r>
              <a:rPr lang="en-CA" sz="1400" dirty="0"/>
              <a:t> show the opposite direction. However, these programs also have smaller samples</a:t>
            </a:r>
          </a:p>
        </p:txBody>
      </p:sp>
    </p:spTree>
    <p:extLst>
      <p:ext uri="{BB962C8B-B14F-4D97-AF65-F5344CB8AC3E}">
        <p14:creationId xmlns:p14="http://schemas.microsoft.com/office/powerpoint/2010/main" val="36955089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38C4C9-100F-A388-16A4-3277052DA56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0DBB70C-363E-5CA8-E3CA-7A38E7B1B1DA}"/>
              </a:ext>
            </a:extLst>
          </p:cNvPr>
          <p:cNvSpPr/>
          <p:nvPr/>
        </p:nvSpPr>
        <p:spPr>
          <a:xfrm>
            <a:off x="0" y="0"/>
            <a:ext cx="12191695" cy="73152"/>
          </a:xfrm>
          <a:prstGeom prst="rect">
            <a:avLst/>
          </a:prstGeom>
          <a:solidFill>
            <a:srgbClr val="33AFE2"/>
          </a:solidFill>
          <a:ln>
            <a:solidFill>
              <a:srgbClr val="33AF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02A6DAF5-C820-226C-476B-D1BB1D6AF860}"/>
              </a:ext>
            </a:extLst>
          </p:cNvPr>
          <p:cNvSpPr txBox="1"/>
          <p:nvPr/>
        </p:nvSpPr>
        <p:spPr>
          <a:xfrm>
            <a:off x="594360" y="320040"/>
            <a:ext cx="2194560" cy="228600"/>
          </a:xfrm>
          <a:prstGeom prst="rect">
            <a:avLst/>
          </a:prstGeom>
          <a:noFill/>
        </p:spPr>
        <p:txBody>
          <a:bodyPr wrap="none" lIns="27432" tIns="27432" rIns="27432" bIns="27432" anchor="ctr">
            <a:spAutoFit/>
          </a:bodyPr>
          <a:lstStyle/>
          <a:p>
            <a:pPr algn="l"/>
            <a:r>
              <a:rPr sz="900" b="1" i="0">
                <a:solidFill>
                  <a:srgbClr val="237BA5"/>
                </a:solidFill>
                <a:latin typeface="Aptos"/>
              </a:rPr>
              <a:t>EARNINGS</a:t>
            </a:r>
          </a:p>
        </p:txBody>
      </p:sp>
      <p:sp>
        <p:nvSpPr>
          <p:cNvPr id="4" name="TextBox 3">
            <a:extLst>
              <a:ext uri="{FF2B5EF4-FFF2-40B4-BE49-F238E27FC236}">
                <a16:creationId xmlns:a16="http://schemas.microsoft.com/office/drawing/2014/main" id="{5D0B4DBB-331F-CB17-E94B-5A661AACEA10}"/>
              </a:ext>
            </a:extLst>
          </p:cNvPr>
          <p:cNvSpPr txBox="1"/>
          <p:nvPr/>
        </p:nvSpPr>
        <p:spPr>
          <a:xfrm>
            <a:off x="594360" y="612648"/>
            <a:ext cx="10607040" cy="566928"/>
          </a:xfrm>
          <a:prstGeom prst="rect">
            <a:avLst/>
          </a:prstGeom>
          <a:noFill/>
        </p:spPr>
        <p:txBody>
          <a:bodyPr wrap="none" lIns="27432" tIns="27432" rIns="27432" bIns="27432" anchor="ctr">
            <a:spAutoFit/>
          </a:bodyPr>
          <a:lstStyle/>
          <a:p>
            <a:pPr algn="l"/>
            <a:r>
              <a:rPr sz="2500" b="1" i="0">
                <a:solidFill>
                  <a:srgbClr val="202124"/>
                </a:solidFill>
                <a:latin typeface="Aptos"/>
              </a:rPr>
              <a:t>Which programs offer the strongest tuition-to-earnings value?</a:t>
            </a:r>
          </a:p>
        </p:txBody>
      </p:sp>
      <p:sp>
        <p:nvSpPr>
          <p:cNvPr id="5" name="TextBox 4">
            <a:extLst>
              <a:ext uri="{FF2B5EF4-FFF2-40B4-BE49-F238E27FC236}">
                <a16:creationId xmlns:a16="http://schemas.microsoft.com/office/drawing/2014/main" id="{3642C654-B8AF-E21A-4C27-40F7CF1C32D0}"/>
              </a:ext>
            </a:extLst>
          </p:cNvPr>
          <p:cNvSpPr txBox="1"/>
          <p:nvPr/>
        </p:nvSpPr>
        <p:spPr>
          <a:xfrm>
            <a:off x="612648" y="1246270"/>
            <a:ext cx="4056495" cy="232371"/>
          </a:xfrm>
          <a:prstGeom prst="rect">
            <a:avLst/>
          </a:prstGeom>
          <a:noFill/>
        </p:spPr>
        <p:txBody>
          <a:bodyPr wrap="none" lIns="27432" tIns="27432" rIns="27432" bIns="27432" anchor="ctr">
            <a:spAutoFit/>
          </a:bodyPr>
          <a:lstStyle/>
          <a:p>
            <a:pPr algn="l"/>
            <a:r>
              <a:rPr sz="1150" b="0" i="0" dirty="0" err="1">
                <a:solidFill>
                  <a:srgbClr val="6B7280"/>
                </a:solidFill>
                <a:latin typeface="Aptos"/>
              </a:rPr>
              <a:t>Compar</a:t>
            </a:r>
            <a:r>
              <a:rPr lang="en-CA" sz="1150" b="0" i="0" dirty="0" err="1">
                <a:solidFill>
                  <a:srgbClr val="6B7280"/>
                </a:solidFill>
                <a:latin typeface="Aptos"/>
              </a:rPr>
              <a:t>ing</a:t>
            </a:r>
            <a:r>
              <a:rPr lang="en-CA" sz="1150" b="0" i="0" dirty="0">
                <a:solidFill>
                  <a:srgbClr val="6B7280"/>
                </a:solidFill>
                <a:latin typeface="Aptos"/>
              </a:rPr>
              <a:t> </a:t>
            </a:r>
            <a:r>
              <a:rPr sz="1150" b="0" i="0" dirty="0">
                <a:solidFill>
                  <a:srgbClr val="6B7280"/>
                </a:solidFill>
                <a:latin typeface="Aptos"/>
              </a:rPr>
              <a:t>the cost of attendance with post-graduate earnings.</a:t>
            </a:r>
          </a:p>
        </p:txBody>
      </p:sp>
      <p:sp>
        <p:nvSpPr>
          <p:cNvPr id="6" name="TextBox 5">
            <a:extLst>
              <a:ext uri="{FF2B5EF4-FFF2-40B4-BE49-F238E27FC236}">
                <a16:creationId xmlns:a16="http://schemas.microsoft.com/office/drawing/2014/main" id="{522C3DC1-D9B8-316C-73CC-EEDA3EAB76A1}"/>
              </a:ext>
            </a:extLst>
          </p:cNvPr>
          <p:cNvSpPr txBox="1"/>
          <p:nvPr/>
        </p:nvSpPr>
        <p:spPr>
          <a:xfrm>
            <a:off x="11109960" y="365760"/>
            <a:ext cx="502920" cy="228600"/>
          </a:xfrm>
          <a:prstGeom prst="rect">
            <a:avLst/>
          </a:prstGeom>
          <a:noFill/>
        </p:spPr>
        <p:txBody>
          <a:bodyPr wrap="none" lIns="27432" tIns="27432" rIns="27432" bIns="27432" anchor="ctr">
            <a:spAutoFit/>
          </a:bodyPr>
          <a:lstStyle/>
          <a:p>
            <a:pPr algn="r"/>
            <a:r>
              <a:rPr sz="900" b="1" i="0">
                <a:solidFill>
                  <a:srgbClr val="9CA3AF"/>
                </a:solidFill>
                <a:latin typeface="Aptos"/>
              </a:rPr>
              <a:t>05</a:t>
            </a:r>
          </a:p>
        </p:txBody>
      </p:sp>
      <p:grpSp>
        <p:nvGrpSpPr>
          <p:cNvPr id="17" name="Group 16">
            <a:extLst>
              <a:ext uri="{FF2B5EF4-FFF2-40B4-BE49-F238E27FC236}">
                <a16:creationId xmlns:a16="http://schemas.microsoft.com/office/drawing/2014/main" id="{9E53F4B9-D15F-725D-EF67-2F0F9ABCE40B}"/>
              </a:ext>
            </a:extLst>
          </p:cNvPr>
          <p:cNvGrpSpPr/>
          <p:nvPr/>
        </p:nvGrpSpPr>
        <p:grpSpPr>
          <a:xfrm>
            <a:off x="594360" y="1664207"/>
            <a:ext cx="6583680" cy="4497103"/>
            <a:chOff x="594360" y="1664207"/>
            <a:chExt cx="6583680" cy="4497103"/>
          </a:xfrm>
        </p:grpSpPr>
        <p:sp>
          <p:nvSpPr>
            <p:cNvPr id="7" name="Rounded Rectangle 6">
              <a:extLst>
                <a:ext uri="{FF2B5EF4-FFF2-40B4-BE49-F238E27FC236}">
                  <a16:creationId xmlns:a16="http://schemas.microsoft.com/office/drawing/2014/main" id="{76BDE2C8-DFD3-08F0-B0FD-11115FC70207}"/>
                </a:ext>
              </a:extLst>
            </p:cNvPr>
            <p:cNvSpPr/>
            <p:nvPr/>
          </p:nvSpPr>
          <p:spPr>
            <a:xfrm>
              <a:off x="594360" y="1664207"/>
              <a:ext cx="6583680" cy="4497103"/>
            </a:xfrm>
            <a:prstGeom prst="roundRect">
              <a:avLst>
                <a:gd name="adj" fmla="val 8000"/>
              </a:avLst>
            </a:prstGeom>
            <a:solidFill>
              <a:srgbClr val="F2FAFD"/>
            </a:solidFill>
            <a:ln>
              <a:solidFill>
                <a:srgbClr val="DCF2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a:extLst>
                <a:ext uri="{FF2B5EF4-FFF2-40B4-BE49-F238E27FC236}">
                  <a16:creationId xmlns:a16="http://schemas.microsoft.com/office/drawing/2014/main" id="{A8B721E6-CBB0-7E55-4028-11902B64ED09}"/>
                </a:ext>
              </a:extLst>
            </p:cNvPr>
            <p:cNvSpPr/>
            <p:nvPr/>
          </p:nvSpPr>
          <p:spPr>
            <a:xfrm>
              <a:off x="795528" y="1865376"/>
              <a:ext cx="6181344" cy="4052446"/>
            </a:xfrm>
            <a:prstGeom prst="roundRect">
              <a:avLst>
                <a:gd name="adj" fmla="val 8000"/>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9" name="TextBox 8">
            <a:extLst>
              <a:ext uri="{FF2B5EF4-FFF2-40B4-BE49-F238E27FC236}">
                <a16:creationId xmlns:a16="http://schemas.microsoft.com/office/drawing/2014/main" id="{8CCB6565-AA84-AC6C-983B-34BC215A64EC}"/>
              </a:ext>
            </a:extLst>
          </p:cNvPr>
          <p:cNvSpPr txBox="1"/>
          <p:nvPr/>
        </p:nvSpPr>
        <p:spPr>
          <a:xfrm>
            <a:off x="2207984" y="1911384"/>
            <a:ext cx="3356432" cy="255455"/>
          </a:xfrm>
          <a:prstGeom prst="rect">
            <a:avLst/>
          </a:prstGeom>
          <a:noFill/>
        </p:spPr>
        <p:txBody>
          <a:bodyPr wrap="none" lIns="27432" tIns="27432" rIns="27432" bIns="27432" anchor="ctr">
            <a:spAutoFit/>
          </a:bodyPr>
          <a:lstStyle/>
          <a:p>
            <a:pPr algn="ctr"/>
            <a:r>
              <a:rPr lang="en-CA" sz="1300" b="1" i="0" dirty="0">
                <a:solidFill>
                  <a:srgbClr val="237BA5"/>
                </a:solidFill>
                <a:latin typeface="Aptos"/>
              </a:rPr>
              <a:t>TUITION TO EARNINGS </a:t>
            </a:r>
            <a:r>
              <a:rPr sz="1300" b="1" i="0" dirty="0">
                <a:solidFill>
                  <a:srgbClr val="237BA5"/>
                </a:solidFill>
                <a:latin typeface="Aptos"/>
              </a:rPr>
              <a:t>RANKED BAR CHART</a:t>
            </a:r>
          </a:p>
        </p:txBody>
      </p:sp>
      <p:cxnSp>
        <p:nvCxnSpPr>
          <p:cNvPr id="12" name="Connector 11">
            <a:extLst>
              <a:ext uri="{FF2B5EF4-FFF2-40B4-BE49-F238E27FC236}">
                <a16:creationId xmlns:a16="http://schemas.microsoft.com/office/drawing/2014/main" id="{033E2764-EF0A-05E8-612D-7EE902F8D944}"/>
              </a:ext>
            </a:extLst>
          </p:cNvPr>
          <p:cNvCxnSpPr/>
          <p:nvPr/>
        </p:nvCxnSpPr>
        <p:spPr>
          <a:xfrm>
            <a:off x="594360" y="6446520"/>
            <a:ext cx="11000232" cy="0"/>
          </a:xfrm>
          <a:prstGeom prst="line">
            <a:avLst/>
          </a:prstGeom>
          <a:ln w="10160">
            <a:solidFill>
              <a:srgbClr val="E5E7EB"/>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3F5455B2-BB74-04EC-EB90-A9A14AEB2838}"/>
              </a:ext>
            </a:extLst>
          </p:cNvPr>
          <p:cNvSpPr txBox="1"/>
          <p:nvPr/>
        </p:nvSpPr>
        <p:spPr>
          <a:xfrm>
            <a:off x="621792" y="6498272"/>
            <a:ext cx="7618368" cy="170816"/>
          </a:xfrm>
          <a:prstGeom prst="rect">
            <a:avLst/>
          </a:prstGeom>
          <a:noFill/>
        </p:spPr>
        <p:txBody>
          <a:bodyPr wrap="none" lIns="27432" tIns="27432" rIns="27432" bIns="27432" anchor="ctr">
            <a:spAutoFit/>
          </a:bodyPr>
          <a:lstStyle/>
          <a:p>
            <a:pPr algn="l"/>
            <a:r>
              <a:rPr lang="en-US" sz="750" b="0" i="0" dirty="0">
                <a:solidFill>
                  <a:srgbClr val="9CA3AF"/>
                </a:solidFill>
                <a:latin typeface="Aptos"/>
              </a:rPr>
              <a:t>Source: Lab, M. (2026, August 1). College majors 2026: Earnings, Debt, jobs, AI. Kaggle. https://www.kaggle.com/datasets/kylefengkfeng209/college-majors-2026-earnings-debt-jobs-ai </a:t>
            </a:r>
            <a:endParaRPr sz="750" b="0" i="0" dirty="0">
              <a:solidFill>
                <a:srgbClr val="9CA3AF"/>
              </a:solidFill>
              <a:latin typeface="Aptos"/>
            </a:endParaRPr>
          </a:p>
        </p:txBody>
      </p:sp>
      <p:sp>
        <p:nvSpPr>
          <p:cNvPr id="14" name="TextBox 13">
            <a:extLst>
              <a:ext uri="{FF2B5EF4-FFF2-40B4-BE49-F238E27FC236}">
                <a16:creationId xmlns:a16="http://schemas.microsoft.com/office/drawing/2014/main" id="{5061D283-E685-0A6C-6889-B637F9A0C8C0}"/>
              </a:ext>
            </a:extLst>
          </p:cNvPr>
          <p:cNvSpPr txBox="1"/>
          <p:nvPr/>
        </p:nvSpPr>
        <p:spPr>
          <a:xfrm>
            <a:off x="6400800" y="6483096"/>
            <a:ext cx="5166360" cy="201168"/>
          </a:xfrm>
          <a:prstGeom prst="rect">
            <a:avLst/>
          </a:prstGeom>
          <a:noFill/>
        </p:spPr>
        <p:txBody>
          <a:bodyPr wrap="none" lIns="27432" tIns="27432" rIns="27432" bIns="27432" anchor="ctr">
            <a:spAutoFit/>
          </a:bodyPr>
          <a:lstStyle/>
          <a:p>
            <a:pPr algn="r"/>
            <a:r>
              <a:rPr sz="750" b="0" i="0">
                <a:solidFill>
                  <a:srgbClr val="9CA3AF"/>
                </a:solidFill>
                <a:latin typeface="Aptos"/>
              </a:rPr>
              <a:t>Define exactly how the tuition-to-earnings ratio is calculated.</a:t>
            </a:r>
          </a:p>
        </p:txBody>
      </p:sp>
      <p:pic>
        <p:nvPicPr>
          <p:cNvPr id="15" name="Picture 14">
            <a:extLst>
              <a:ext uri="{FF2B5EF4-FFF2-40B4-BE49-F238E27FC236}">
                <a16:creationId xmlns:a16="http://schemas.microsoft.com/office/drawing/2014/main" id="{FE75B1A9-0EBD-93E6-7CF8-22ACF7B4A631}"/>
              </a:ext>
            </a:extLst>
          </p:cNvPr>
          <p:cNvPicPr>
            <a:picLocks noChangeAspect="1"/>
          </p:cNvPicPr>
          <p:nvPr/>
        </p:nvPicPr>
        <p:blipFill>
          <a:blip r:embed="rId2"/>
          <a:srcRect l="3025"/>
          <a:stretch>
            <a:fillRect/>
          </a:stretch>
        </p:blipFill>
        <p:spPr>
          <a:xfrm>
            <a:off x="1675167" y="2124184"/>
            <a:ext cx="4422066" cy="3642465"/>
          </a:xfrm>
          <a:prstGeom prst="rect">
            <a:avLst/>
          </a:prstGeom>
        </p:spPr>
      </p:pic>
      <p:sp>
        <p:nvSpPr>
          <p:cNvPr id="16" name="Rectangle 15">
            <a:extLst>
              <a:ext uri="{FF2B5EF4-FFF2-40B4-BE49-F238E27FC236}">
                <a16:creationId xmlns:a16="http://schemas.microsoft.com/office/drawing/2014/main" id="{C27B0E24-A80C-E177-728C-977F6DB8238C}"/>
              </a:ext>
            </a:extLst>
          </p:cNvPr>
          <p:cNvSpPr/>
          <p:nvPr/>
        </p:nvSpPr>
        <p:spPr>
          <a:xfrm>
            <a:off x="7725960" y="1664207"/>
            <a:ext cx="3841200" cy="4497103"/>
          </a:xfrm>
          <a:prstGeom prst="rect">
            <a:avLst/>
          </a:prstGeom>
          <a:solidFill>
            <a:schemeClr val="bg1"/>
          </a:solidFill>
          <a:ln>
            <a:solidFill>
              <a:schemeClr val="bg1">
                <a:lumMod val="95000"/>
              </a:schemeClr>
            </a:solidFill>
          </a:ln>
        </p:spPr>
        <p:style>
          <a:lnRef idx="1">
            <a:schemeClr val="accent1"/>
          </a:lnRef>
          <a:fillRef idx="3">
            <a:schemeClr val="accent1"/>
          </a:fillRef>
          <a:effectRef idx="2">
            <a:schemeClr val="accent1"/>
          </a:effectRef>
          <a:fontRef idx="minor">
            <a:schemeClr val="lt1"/>
          </a:fontRef>
        </p:style>
        <p:txBody>
          <a:bodyPr rtlCol="0" anchor="ctr"/>
          <a:lstStyle/>
          <a:p>
            <a:endParaRPr lang="en-CA" sz="1400" dirty="0">
              <a:solidFill>
                <a:schemeClr val="tx1"/>
              </a:solidFill>
            </a:endParaRPr>
          </a:p>
        </p:txBody>
      </p:sp>
      <p:sp>
        <p:nvSpPr>
          <p:cNvPr id="18" name="TextBox 17">
            <a:extLst>
              <a:ext uri="{FF2B5EF4-FFF2-40B4-BE49-F238E27FC236}">
                <a16:creationId xmlns:a16="http://schemas.microsoft.com/office/drawing/2014/main" id="{C5AC7DB1-3886-E252-A673-A96C66226478}"/>
              </a:ext>
            </a:extLst>
          </p:cNvPr>
          <p:cNvSpPr txBox="1"/>
          <p:nvPr/>
        </p:nvSpPr>
        <p:spPr>
          <a:xfrm>
            <a:off x="7837560" y="1927599"/>
            <a:ext cx="3618000" cy="3970318"/>
          </a:xfrm>
          <a:prstGeom prst="rect">
            <a:avLst/>
          </a:prstGeom>
          <a:noFill/>
        </p:spPr>
        <p:txBody>
          <a:bodyPr wrap="square" rtlCol="0">
            <a:spAutoFit/>
          </a:bodyPr>
          <a:lstStyle/>
          <a:p>
            <a:r>
              <a:rPr lang="en-CA" sz="1400" b="1" dirty="0">
                <a:solidFill>
                  <a:srgbClr val="33AFE2"/>
                </a:solidFill>
              </a:rPr>
              <a:t>Technical and applied programs deliver the strongest return on tuition spend</a:t>
            </a:r>
          </a:p>
          <a:p>
            <a:endParaRPr lang="en-US" sz="1400" dirty="0"/>
          </a:p>
          <a:p>
            <a:pPr marL="285750" indent="-285750">
              <a:buFont typeface="Arial" panose="020B0604020202020204" pitchFamily="34" charset="0"/>
              <a:buChar char="•"/>
            </a:pPr>
            <a:r>
              <a:rPr lang="en-US" sz="1400" b="1" dirty="0"/>
              <a:t>Construction Trades (~0.15), Engineering-related Technologies (~0.17), Transportation (~0.18), Computer/Info Sciences (~0.20), and Engineering (~0.22)</a:t>
            </a:r>
            <a:r>
              <a:rPr lang="en-CA" sz="1400" b="1" dirty="0"/>
              <a:t> </a:t>
            </a:r>
            <a:r>
              <a:rPr lang="en-CA" sz="1400" dirty="0"/>
              <a:t>all have lower tuition in comparison to earnings, offering better return per dollar of tuition compared to most university programs</a:t>
            </a:r>
          </a:p>
          <a:p>
            <a:pPr marL="285750" indent="-285750">
              <a:buFont typeface="Arial" panose="020B0604020202020204" pitchFamily="34" charset="0"/>
              <a:buChar char="•"/>
            </a:pPr>
            <a:endParaRPr lang="en-CA" sz="1400" dirty="0"/>
          </a:p>
          <a:p>
            <a:pPr marL="285750" indent="-285750">
              <a:buFont typeface="Arial" panose="020B0604020202020204" pitchFamily="34" charset="0"/>
              <a:buChar char="•"/>
            </a:pPr>
            <a:r>
              <a:rPr lang="en-CA" sz="1400" b="1" dirty="0"/>
              <a:t>Precision Production (~1.7)</a:t>
            </a:r>
            <a:r>
              <a:rPr lang="en-CA" sz="1400" dirty="0"/>
              <a:t> (small sample size), </a:t>
            </a:r>
            <a:r>
              <a:rPr lang="en-CA" sz="1400" b="1" dirty="0"/>
              <a:t>Communications Technologies (~0.65) Theology and Religious Vocations (~0.58, and Visual and Performing Arts (~0.48)</a:t>
            </a:r>
            <a:r>
              <a:rPr lang="en-CA" sz="1400" dirty="0"/>
              <a:t> all have relatively weaker tuition-to-earnings value</a:t>
            </a:r>
          </a:p>
        </p:txBody>
      </p:sp>
    </p:spTree>
    <p:extLst>
      <p:ext uri="{BB962C8B-B14F-4D97-AF65-F5344CB8AC3E}">
        <p14:creationId xmlns:p14="http://schemas.microsoft.com/office/powerpoint/2010/main" val="24602418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C4314281-A92C-753B-4340-70C8FE45CD6A}"/>
              </a:ext>
            </a:extLst>
          </p:cNvPr>
          <p:cNvGrpSpPr/>
          <p:nvPr/>
        </p:nvGrpSpPr>
        <p:grpSpPr>
          <a:xfrm>
            <a:off x="594360" y="1664208"/>
            <a:ext cx="6583680" cy="4497106"/>
            <a:chOff x="594360" y="1664207"/>
            <a:chExt cx="6583680" cy="4581141"/>
          </a:xfrm>
        </p:grpSpPr>
        <p:sp>
          <p:nvSpPr>
            <p:cNvPr id="21" name="Rounded Rectangle 6">
              <a:extLst>
                <a:ext uri="{FF2B5EF4-FFF2-40B4-BE49-F238E27FC236}">
                  <a16:creationId xmlns:a16="http://schemas.microsoft.com/office/drawing/2014/main" id="{53F1CE11-48C7-F418-C981-15545AD97A1B}"/>
                </a:ext>
              </a:extLst>
            </p:cNvPr>
            <p:cNvSpPr/>
            <p:nvPr/>
          </p:nvSpPr>
          <p:spPr>
            <a:xfrm>
              <a:off x="594360" y="1664207"/>
              <a:ext cx="6583680" cy="4581141"/>
            </a:xfrm>
            <a:prstGeom prst="roundRect">
              <a:avLst>
                <a:gd name="adj" fmla="val 8000"/>
              </a:avLst>
            </a:prstGeom>
            <a:solidFill>
              <a:srgbClr val="F2FAFD"/>
            </a:solidFill>
            <a:ln>
              <a:solidFill>
                <a:srgbClr val="DCF2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7">
              <a:extLst>
                <a:ext uri="{FF2B5EF4-FFF2-40B4-BE49-F238E27FC236}">
                  <a16:creationId xmlns:a16="http://schemas.microsoft.com/office/drawing/2014/main" id="{B0DD37BA-6E94-20DF-156F-FFB1A830BE58}"/>
                </a:ext>
              </a:extLst>
            </p:cNvPr>
            <p:cNvSpPr/>
            <p:nvPr/>
          </p:nvSpPr>
          <p:spPr>
            <a:xfrm>
              <a:off x="795528" y="1865376"/>
              <a:ext cx="6181344" cy="4128174"/>
            </a:xfrm>
            <a:prstGeom prst="roundRect">
              <a:avLst>
                <a:gd name="adj" fmla="val 8000"/>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2" name="Rectangle 1"/>
          <p:cNvSpPr/>
          <p:nvPr/>
        </p:nvSpPr>
        <p:spPr>
          <a:xfrm>
            <a:off x="0" y="0"/>
            <a:ext cx="12191695" cy="73152"/>
          </a:xfrm>
          <a:prstGeom prst="rect">
            <a:avLst/>
          </a:prstGeom>
          <a:solidFill>
            <a:srgbClr val="33AFE2"/>
          </a:solidFill>
          <a:ln>
            <a:solidFill>
              <a:srgbClr val="33AF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2194560" cy="228600"/>
          </a:xfrm>
          <a:prstGeom prst="rect">
            <a:avLst/>
          </a:prstGeom>
          <a:noFill/>
        </p:spPr>
        <p:txBody>
          <a:bodyPr wrap="none" lIns="27432" tIns="27432" rIns="27432" bIns="27432" anchor="ctr">
            <a:spAutoFit/>
          </a:bodyPr>
          <a:lstStyle/>
          <a:p>
            <a:pPr algn="l"/>
            <a:r>
              <a:rPr sz="900" b="1" i="0">
                <a:solidFill>
                  <a:srgbClr val="237BA5"/>
                </a:solidFill>
                <a:latin typeface="Aptos"/>
              </a:rPr>
              <a:t>EARNINGS</a:t>
            </a:r>
          </a:p>
        </p:txBody>
      </p:sp>
      <p:sp>
        <p:nvSpPr>
          <p:cNvPr id="4" name="TextBox 3"/>
          <p:cNvSpPr txBox="1"/>
          <p:nvPr/>
        </p:nvSpPr>
        <p:spPr>
          <a:xfrm>
            <a:off x="594360" y="612648"/>
            <a:ext cx="10607040" cy="566928"/>
          </a:xfrm>
          <a:prstGeom prst="rect">
            <a:avLst/>
          </a:prstGeom>
          <a:noFill/>
        </p:spPr>
        <p:txBody>
          <a:bodyPr wrap="none" lIns="27432" tIns="27432" rIns="27432" bIns="27432" anchor="ctr">
            <a:spAutoFit/>
          </a:bodyPr>
          <a:lstStyle/>
          <a:p>
            <a:pPr algn="l"/>
            <a:r>
              <a:rPr sz="2500" b="1" i="0">
                <a:solidFill>
                  <a:srgbClr val="202124"/>
                </a:solidFill>
                <a:latin typeface="Aptos"/>
              </a:rPr>
              <a:t>How does each program compare with the typical bachelor’s degree earner?</a:t>
            </a:r>
          </a:p>
        </p:txBody>
      </p:sp>
      <p:sp>
        <p:nvSpPr>
          <p:cNvPr id="5" name="TextBox 4"/>
          <p:cNvSpPr txBox="1"/>
          <p:nvPr/>
        </p:nvSpPr>
        <p:spPr>
          <a:xfrm>
            <a:off x="612648" y="1246270"/>
            <a:ext cx="5603393" cy="232371"/>
          </a:xfrm>
          <a:prstGeom prst="rect">
            <a:avLst/>
          </a:prstGeom>
          <a:noFill/>
        </p:spPr>
        <p:txBody>
          <a:bodyPr wrap="none" lIns="27432" tIns="27432" rIns="27432" bIns="27432" anchor="ctr">
            <a:spAutoFit/>
          </a:bodyPr>
          <a:lstStyle/>
          <a:p>
            <a:pPr algn="l"/>
            <a:r>
              <a:rPr lang="en-CA" sz="1150" dirty="0">
                <a:solidFill>
                  <a:srgbClr val="6B7280"/>
                </a:solidFill>
                <a:latin typeface="Aptos"/>
              </a:rPr>
              <a:t>Each program’s f</a:t>
            </a:r>
            <a:r>
              <a:rPr sz="1150" b="0" i="0" dirty="0">
                <a:solidFill>
                  <a:srgbClr val="6B7280"/>
                </a:solidFill>
                <a:latin typeface="Aptos"/>
              </a:rPr>
              <a:t>our-year earnings relative to the median four-year earnings benchmark</a:t>
            </a:r>
          </a:p>
        </p:txBody>
      </p:sp>
      <p:sp>
        <p:nvSpPr>
          <p:cNvPr id="6" name="TextBox 5"/>
          <p:cNvSpPr txBox="1"/>
          <p:nvPr/>
        </p:nvSpPr>
        <p:spPr>
          <a:xfrm>
            <a:off x="11109960" y="365760"/>
            <a:ext cx="502920" cy="228600"/>
          </a:xfrm>
          <a:prstGeom prst="rect">
            <a:avLst/>
          </a:prstGeom>
          <a:noFill/>
        </p:spPr>
        <p:txBody>
          <a:bodyPr wrap="none" lIns="27432" tIns="27432" rIns="27432" bIns="27432" anchor="ctr">
            <a:spAutoFit/>
          </a:bodyPr>
          <a:lstStyle/>
          <a:p>
            <a:pPr algn="r"/>
            <a:r>
              <a:rPr sz="900" b="1" i="0">
                <a:solidFill>
                  <a:srgbClr val="9CA3AF"/>
                </a:solidFill>
                <a:latin typeface="Aptos"/>
              </a:rPr>
              <a:t>06</a:t>
            </a:r>
          </a:p>
        </p:txBody>
      </p:sp>
      <p:sp>
        <p:nvSpPr>
          <p:cNvPr id="9" name="TextBox 8"/>
          <p:cNvSpPr txBox="1"/>
          <p:nvPr/>
        </p:nvSpPr>
        <p:spPr>
          <a:xfrm>
            <a:off x="822960" y="1865376"/>
            <a:ext cx="6126480" cy="292608"/>
          </a:xfrm>
          <a:prstGeom prst="rect">
            <a:avLst/>
          </a:prstGeom>
          <a:noFill/>
        </p:spPr>
        <p:txBody>
          <a:bodyPr wrap="none" lIns="27432" tIns="27432" rIns="27432" bIns="27432" anchor="ctr">
            <a:spAutoFit/>
          </a:bodyPr>
          <a:lstStyle/>
          <a:p>
            <a:pPr algn="ctr"/>
            <a:r>
              <a:rPr sz="1300" b="1" i="0">
                <a:solidFill>
                  <a:srgbClr val="237BA5"/>
                </a:solidFill>
                <a:latin typeface="Aptos"/>
              </a:rPr>
              <a:t>BENCHMARKED BAR CHART</a:t>
            </a:r>
          </a:p>
        </p:txBody>
      </p:sp>
      <p:sp>
        <p:nvSpPr>
          <p:cNvPr id="11" name="Rounded Rectangle 10"/>
          <p:cNvSpPr/>
          <p:nvPr/>
        </p:nvSpPr>
        <p:spPr>
          <a:xfrm>
            <a:off x="7727398" y="1664208"/>
            <a:ext cx="3840480" cy="1024128"/>
          </a:xfrm>
          <a:prstGeom prst="roundRect">
            <a:avLst>
              <a:gd name="adj" fmla="val 8000"/>
            </a:avLst>
          </a:prstGeom>
          <a:solidFill>
            <a:srgbClr val="F2FAFD"/>
          </a:solidFill>
          <a:ln>
            <a:solidFill>
              <a:srgbClr val="DCF2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955279" y="1828800"/>
            <a:ext cx="1371600" cy="201168"/>
          </a:xfrm>
          <a:prstGeom prst="rect">
            <a:avLst/>
          </a:prstGeom>
          <a:noFill/>
        </p:spPr>
        <p:txBody>
          <a:bodyPr wrap="none" lIns="27432" tIns="27432" rIns="27432" bIns="27432" anchor="ctr">
            <a:spAutoFit/>
          </a:bodyPr>
          <a:lstStyle/>
          <a:p>
            <a:pPr algn="l"/>
            <a:r>
              <a:rPr sz="850" b="1" i="0">
                <a:solidFill>
                  <a:srgbClr val="237BA5"/>
                </a:solidFill>
                <a:latin typeface="Aptos"/>
              </a:rPr>
              <a:t>BENCHMARK</a:t>
            </a:r>
          </a:p>
        </p:txBody>
      </p:sp>
      <p:sp>
        <p:nvSpPr>
          <p:cNvPr id="13" name="TextBox 12"/>
          <p:cNvSpPr txBox="1"/>
          <p:nvPr/>
        </p:nvSpPr>
        <p:spPr>
          <a:xfrm>
            <a:off x="7955279" y="1994866"/>
            <a:ext cx="1044453" cy="393954"/>
          </a:xfrm>
          <a:prstGeom prst="rect">
            <a:avLst/>
          </a:prstGeom>
          <a:noFill/>
        </p:spPr>
        <p:txBody>
          <a:bodyPr wrap="none" lIns="27432" tIns="27432" rIns="27432" bIns="27432" anchor="ctr">
            <a:spAutoFit/>
          </a:bodyPr>
          <a:lstStyle/>
          <a:p>
            <a:pPr algn="l"/>
            <a:r>
              <a:rPr sz="2200" b="1" i="0" dirty="0">
                <a:solidFill>
                  <a:srgbClr val="202124"/>
                </a:solidFill>
                <a:latin typeface="Aptos"/>
              </a:rPr>
              <a:t>$</a:t>
            </a:r>
            <a:r>
              <a:rPr lang="en-CA" sz="2200" b="1" i="0" dirty="0">
                <a:solidFill>
                  <a:srgbClr val="202124"/>
                </a:solidFill>
                <a:latin typeface="Aptos"/>
              </a:rPr>
              <a:t>57</a:t>
            </a:r>
            <a:r>
              <a:rPr sz="2200" b="1" i="0" dirty="0">
                <a:solidFill>
                  <a:srgbClr val="202124"/>
                </a:solidFill>
                <a:latin typeface="Aptos"/>
              </a:rPr>
              <a:t>,</a:t>
            </a:r>
            <a:r>
              <a:rPr lang="en-CA" sz="2200" b="1" i="0" dirty="0">
                <a:solidFill>
                  <a:srgbClr val="202124"/>
                </a:solidFill>
                <a:latin typeface="Aptos"/>
              </a:rPr>
              <a:t>000</a:t>
            </a:r>
            <a:endParaRPr sz="2200" b="1" i="0" dirty="0">
              <a:solidFill>
                <a:srgbClr val="202124"/>
              </a:solidFill>
              <a:latin typeface="Aptos"/>
            </a:endParaRPr>
          </a:p>
        </p:txBody>
      </p:sp>
      <p:sp>
        <p:nvSpPr>
          <p:cNvPr id="14" name="TextBox 13"/>
          <p:cNvSpPr txBox="1"/>
          <p:nvPr/>
        </p:nvSpPr>
        <p:spPr>
          <a:xfrm>
            <a:off x="7955279" y="2350703"/>
            <a:ext cx="3105915" cy="186205"/>
          </a:xfrm>
          <a:prstGeom prst="rect">
            <a:avLst/>
          </a:prstGeom>
          <a:noFill/>
        </p:spPr>
        <p:txBody>
          <a:bodyPr wrap="none" lIns="27432" tIns="27432" rIns="27432" bIns="27432" anchor="ctr">
            <a:spAutoFit/>
          </a:bodyPr>
          <a:lstStyle/>
          <a:p>
            <a:pPr algn="l"/>
            <a:r>
              <a:rPr sz="850" b="0" i="0" dirty="0">
                <a:solidFill>
                  <a:srgbClr val="6B7280"/>
                </a:solidFill>
                <a:latin typeface="Aptos"/>
              </a:rPr>
              <a:t>Median 4-year earnings</a:t>
            </a:r>
            <a:r>
              <a:rPr lang="en-CA" sz="850" b="0" i="0" dirty="0">
                <a:solidFill>
                  <a:srgbClr val="6B7280"/>
                </a:solidFill>
                <a:latin typeface="Aptos"/>
              </a:rPr>
              <a:t> of a Bachelor’s degree holder in the USA</a:t>
            </a:r>
            <a:r>
              <a:rPr lang="en-CA" sz="850" b="0" i="0" baseline="30000" dirty="0">
                <a:solidFill>
                  <a:srgbClr val="6B7280"/>
                </a:solidFill>
                <a:latin typeface="Aptos"/>
              </a:rPr>
              <a:t>2</a:t>
            </a:r>
            <a:endParaRPr sz="850" b="0" i="0" baseline="30000" dirty="0">
              <a:solidFill>
                <a:srgbClr val="6B7280"/>
              </a:solidFill>
              <a:latin typeface="Aptos"/>
            </a:endParaRPr>
          </a:p>
        </p:txBody>
      </p:sp>
      <p:cxnSp>
        <p:nvCxnSpPr>
          <p:cNvPr id="16" name="Connector 15"/>
          <p:cNvCxnSpPr/>
          <p:nvPr/>
        </p:nvCxnSpPr>
        <p:spPr>
          <a:xfrm>
            <a:off x="594360" y="6446520"/>
            <a:ext cx="11000232" cy="0"/>
          </a:xfrm>
          <a:prstGeom prst="line">
            <a:avLst/>
          </a:prstGeom>
          <a:ln w="10160">
            <a:solidFill>
              <a:srgbClr val="E5E7EB"/>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12628" y="6484257"/>
            <a:ext cx="7342651" cy="332399"/>
          </a:xfrm>
          <a:prstGeom prst="rect">
            <a:avLst/>
          </a:prstGeom>
          <a:noFill/>
        </p:spPr>
        <p:txBody>
          <a:bodyPr wrap="none" lIns="27432" tIns="27432" rIns="27432" bIns="27432" anchor="ctr">
            <a:spAutoFit/>
          </a:bodyPr>
          <a:lstStyle/>
          <a:p>
            <a:pPr algn="l"/>
            <a:r>
              <a:rPr sz="600" b="0" i="0" dirty="0">
                <a:solidFill>
                  <a:srgbClr val="9CA3AF"/>
                </a:solidFill>
                <a:latin typeface="Aptos"/>
              </a:rPr>
              <a:t>Source</a:t>
            </a:r>
            <a:r>
              <a:rPr lang="en-CA" sz="600" b="0" i="0" dirty="0">
                <a:solidFill>
                  <a:srgbClr val="9CA3AF"/>
                </a:solidFill>
                <a:latin typeface="Aptos"/>
              </a:rPr>
              <a:t>s</a:t>
            </a:r>
            <a:r>
              <a:rPr sz="600" b="0" i="0" dirty="0">
                <a:solidFill>
                  <a:srgbClr val="9CA3AF"/>
                </a:solidFill>
                <a:latin typeface="Aptos"/>
              </a:rPr>
              <a:t>: </a:t>
            </a:r>
            <a:endParaRPr lang="en-CA" sz="600" dirty="0">
              <a:solidFill>
                <a:srgbClr val="9CA3AF"/>
              </a:solidFill>
              <a:latin typeface="Aptos"/>
            </a:endParaRPr>
          </a:p>
          <a:p>
            <a:pPr marL="228600" indent="-228600" algn="l">
              <a:buAutoNum type="arabicParenR"/>
            </a:pPr>
            <a:r>
              <a:rPr lang="en-US" sz="600" b="0" i="0" dirty="0">
                <a:solidFill>
                  <a:srgbClr val="9CA3AF"/>
                </a:solidFill>
                <a:latin typeface="Aptos"/>
              </a:rPr>
              <a:t>Lab, M. (2026, August 1). College majors 2026: Earnings, Debt, jobs, AI. Kaggle. </a:t>
            </a:r>
            <a:r>
              <a:rPr lang="en-US" sz="600" b="0" i="0" dirty="0">
                <a:solidFill>
                  <a:srgbClr val="9CA3AF"/>
                </a:solidFill>
                <a:latin typeface="Aptos"/>
                <a:hlinkClick r:id="rId2"/>
              </a:rPr>
              <a:t>https://www.kaggle.com/datasets/kylefengkfeng209/college-majors-2026-earnings-debt-jobs-ai</a:t>
            </a:r>
            <a:endParaRPr lang="en-US" sz="600" b="0" i="0" dirty="0">
              <a:solidFill>
                <a:srgbClr val="9CA3AF"/>
              </a:solidFill>
              <a:latin typeface="Aptos"/>
            </a:endParaRPr>
          </a:p>
          <a:p>
            <a:pPr marL="228600" indent="-228600">
              <a:buFontTx/>
              <a:buAutoNum type="arabicParenR"/>
            </a:pPr>
            <a:r>
              <a:rPr lang="en-US" sz="600" b="0" i="0" dirty="0">
                <a:solidFill>
                  <a:srgbClr val="9CA3AF"/>
                </a:solidFill>
                <a:latin typeface="Aptos"/>
              </a:rPr>
              <a:t> </a:t>
            </a:r>
            <a:r>
              <a:rPr lang="en-CA" sz="600" dirty="0"/>
              <a:t>Picchi, A. (n.d.). </a:t>
            </a:r>
            <a:r>
              <a:rPr lang="en-CA" sz="600" i="1" dirty="0"/>
              <a:t>College majors have a big impact on income. here are the highest- and lowest-earning fields.</a:t>
            </a:r>
            <a:r>
              <a:rPr lang="en-CA" sz="600" dirty="0"/>
              <a:t> CBS News. https://www.cbsnews.com/news/college-major-top-and-lowest-earning-majors-impact-on-income-pay/ </a:t>
            </a:r>
          </a:p>
        </p:txBody>
      </p:sp>
      <p:pic>
        <p:nvPicPr>
          <p:cNvPr id="19" name="Picture 18">
            <a:extLst>
              <a:ext uri="{FF2B5EF4-FFF2-40B4-BE49-F238E27FC236}">
                <a16:creationId xmlns:a16="http://schemas.microsoft.com/office/drawing/2014/main" id="{2D546C09-B756-D109-69A0-E3D3E15D51FE}"/>
              </a:ext>
            </a:extLst>
          </p:cNvPr>
          <p:cNvPicPr>
            <a:picLocks noChangeAspect="1"/>
          </p:cNvPicPr>
          <p:nvPr/>
        </p:nvPicPr>
        <p:blipFill>
          <a:blip r:embed="rId3"/>
          <a:stretch>
            <a:fillRect/>
          </a:stretch>
        </p:blipFill>
        <p:spPr>
          <a:xfrm>
            <a:off x="1447801" y="2086022"/>
            <a:ext cx="4876799" cy="3718795"/>
          </a:xfrm>
          <a:prstGeom prst="rect">
            <a:avLst/>
          </a:prstGeom>
        </p:spPr>
      </p:pic>
      <p:grpSp>
        <p:nvGrpSpPr>
          <p:cNvPr id="26" name="Group 25">
            <a:extLst>
              <a:ext uri="{FF2B5EF4-FFF2-40B4-BE49-F238E27FC236}">
                <a16:creationId xmlns:a16="http://schemas.microsoft.com/office/drawing/2014/main" id="{5238E38A-13DC-ACFC-B087-31CBFF6EEB01}"/>
              </a:ext>
            </a:extLst>
          </p:cNvPr>
          <p:cNvGrpSpPr/>
          <p:nvPr/>
        </p:nvGrpSpPr>
        <p:grpSpPr>
          <a:xfrm>
            <a:off x="7727398" y="2852932"/>
            <a:ext cx="3840480" cy="3308382"/>
            <a:chOff x="7727398" y="2784342"/>
            <a:chExt cx="3840480" cy="3308382"/>
          </a:xfrm>
        </p:grpSpPr>
        <p:sp>
          <p:nvSpPr>
            <p:cNvPr id="24" name="Rectangle 23">
              <a:extLst>
                <a:ext uri="{FF2B5EF4-FFF2-40B4-BE49-F238E27FC236}">
                  <a16:creationId xmlns:a16="http://schemas.microsoft.com/office/drawing/2014/main" id="{B41FCC12-F4D8-13AD-31AE-E1CC4804D9A0}"/>
                </a:ext>
              </a:extLst>
            </p:cNvPr>
            <p:cNvSpPr/>
            <p:nvPr/>
          </p:nvSpPr>
          <p:spPr>
            <a:xfrm>
              <a:off x="7727398" y="2784342"/>
              <a:ext cx="3840480" cy="3308382"/>
            </a:xfrm>
            <a:prstGeom prst="rect">
              <a:avLst/>
            </a:prstGeom>
            <a:solidFill>
              <a:schemeClr val="bg1"/>
            </a:solidFill>
            <a:ln>
              <a:solidFill>
                <a:schemeClr val="bg1">
                  <a:lumMod val="9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dirty="0">
                <a:solidFill>
                  <a:schemeClr val="tx1"/>
                </a:solidFill>
              </a:endParaRPr>
            </a:p>
          </p:txBody>
        </p:sp>
        <p:sp>
          <p:nvSpPr>
            <p:cNvPr id="25" name="TextBox 24">
              <a:extLst>
                <a:ext uri="{FF2B5EF4-FFF2-40B4-BE49-F238E27FC236}">
                  <a16:creationId xmlns:a16="http://schemas.microsoft.com/office/drawing/2014/main" id="{0437F46A-CA7E-9F2D-3EC7-3B1AD6046E9E}"/>
                </a:ext>
              </a:extLst>
            </p:cNvPr>
            <p:cNvSpPr txBox="1"/>
            <p:nvPr/>
          </p:nvSpPr>
          <p:spPr>
            <a:xfrm>
              <a:off x="7838638" y="2884262"/>
              <a:ext cx="3618000" cy="3108543"/>
            </a:xfrm>
            <a:prstGeom prst="rect">
              <a:avLst/>
            </a:prstGeom>
            <a:noFill/>
          </p:spPr>
          <p:txBody>
            <a:bodyPr wrap="square" rtlCol="0">
              <a:spAutoFit/>
            </a:bodyPr>
            <a:lstStyle/>
            <a:p>
              <a:r>
                <a:rPr lang="en-US" sz="1400" b="1" dirty="0">
                  <a:solidFill>
                    <a:srgbClr val="33AFE2"/>
                  </a:solidFill>
                </a:rPr>
                <a:t>STEM and technical graduates outperform the national 4-year earnings benchmark, while arts, communications, and theology trail behind.</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b="1" dirty="0"/>
                <a:t>Highest Earners</a:t>
              </a:r>
              <a:r>
                <a:rPr lang="en-US" sz="1400" dirty="0"/>
                <a:t>: Engineering (+$39K), Computer Science (+$36K), Transportation (+$31K), Construction (+$30K), and Engineering Tech (+$27K)</a:t>
              </a:r>
            </a:p>
            <a:p>
              <a:endParaRPr lang="en-US" sz="1400" dirty="0"/>
            </a:p>
            <a:p>
              <a:pPr marL="285750" indent="-285750">
                <a:buFont typeface="Arial" panose="020B0604020202020204" pitchFamily="34" charset="0"/>
                <a:buChar char="•"/>
              </a:pPr>
              <a:r>
                <a:rPr lang="en-US" sz="1400" b="1" dirty="0"/>
                <a:t>Lowest Earners: </a:t>
              </a:r>
              <a:r>
                <a:rPr lang="en-US" sz="1400" dirty="0"/>
                <a:t>Precision Production (-$19K) (small sample size), Library Science (-$15K), Communications Tech (-$12K), Arts (-$11K), and Theology (-$11K).</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Rectangle: Rounded Corners 35">
            <a:extLst>
              <a:ext uri="{FF2B5EF4-FFF2-40B4-BE49-F238E27FC236}">
                <a16:creationId xmlns:a16="http://schemas.microsoft.com/office/drawing/2014/main" id="{9522518D-8DB8-C2A8-D448-CFD7EBC35C83}"/>
              </a:ext>
            </a:extLst>
          </p:cNvPr>
          <p:cNvSpPr/>
          <p:nvPr/>
        </p:nvSpPr>
        <p:spPr>
          <a:xfrm>
            <a:off x="7725960" y="1664207"/>
            <a:ext cx="3841200" cy="1043287"/>
          </a:xfrm>
          <a:prstGeom prst="roundRect">
            <a:avLst/>
          </a:prstGeom>
          <a:solidFill>
            <a:srgbClr val="F2FAFD"/>
          </a:solidFill>
          <a:ln>
            <a:solidFill>
              <a:schemeClr val="bg1">
                <a:lumMod val="9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CA"/>
          </a:p>
        </p:txBody>
      </p:sp>
      <p:sp>
        <p:nvSpPr>
          <p:cNvPr id="24" name="Rectangle 23">
            <a:extLst>
              <a:ext uri="{FF2B5EF4-FFF2-40B4-BE49-F238E27FC236}">
                <a16:creationId xmlns:a16="http://schemas.microsoft.com/office/drawing/2014/main" id="{57E22DDA-DD92-DC29-DA0C-C28F38586554}"/>
              </a:ext>
            </a:extLst>
          </p:cNvPr>
          <p:cNvSpPr/>
          <p:nvPr/>
        </p:nvSpPr>
        <p:spPr>
          <a:xfrm>
            <a:off x="7725960" y="2844654"/>
            <a:ext cx="3841200" cy="3308400"/>
          </a:xfrm>
          <a:prstGeom prst="rect">
            <a:avLst/>
          </a:prstGeom>
          <a:solidFill>
            <a:schemeClr val="bg1"/>
          </a:solidFill>
          <a:ln>
            <a:solidFill>
              <a:schemeClr val="bg1">
                <a:lumMod val="9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CA" dirty="0"/>
          </a:p>
        </p:txBody>
      </p:sp>
      <p:sp>
        <p:nvSpPr>
          <p:cNvPr id="2" name="Rectangle 1"/>
          <p:cNvSpPr/>
          <p:nvPr/>
        </p:nvSpPr>
        <p:spPr>
          <a:xfrm>
            <a:off x="0" y="0"/>
            <a:ext cx="12191695" cy="73152"/>
          </a:xfrm>
          <a:prstGeom prst="rect">
            <a:avLst/>
          </a:prstGeom>
          <a:solidFill>
            <a:srgbClr val="33AFE2"/>
          </a:solidFill>
          <a:ln>
            <a:solidFill>
              <a:srgbClr val="33AF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2194560" cy="228600"/>
          </a:xfrm>
          <a:prstGeom prst="rect">
            <a:avLst/>
          </a:prstGeom>
          <a:noFill/>
        </p:spPr>
        <p:txBody>
          <a:bodyPr wrap="none" lIns="27432" tIns="27432" rIns="27432" bIns="27432" anchor="ctr">
            <a:spAutoFit/>
          </a:bodyPr>
          <a:lstStyle/>
          <a:p>
            <a:pPr algn="l"/>
            <a:r>
              <a:rPr sz="900" b="1" i="0">
                <a:solidFill>
                  <a:srgbClr val="237BA5"/>
                </a:solidFill>
                <a:latin typeface="Aptos"/>
              </a:rPr>
              <a:t>EARNINGS</a:t>
            </a:r>
          </a:p>
        </p:txBody>
      </p:sp>
      <p:sp>
        <p:nvSpPr>
          <p:cNvPr id="4" name="TextBox 3"/>
          <p:cNvSpPr txBox="1"/>
          <p:nvPr/>
        </p:nvSpPr>
        <p:spPr>
          <a:xfrm>
            <a:off x="594360" y="612648"/>
            <a:ext cx="10607040" cy="566928"/>
          </a:xfrm>
          <a:prstGeom prst="rect">
            <a:avLst/>
          </a:prstGeom>
          <a:noFill/>
        </p:spPr>
        <p:txBody>
          <a:bodyPr wrap="none" lIns="27432" tIns="27432" rIns="27432" bIns="27432" anchor="ctr">
            <a:spAutoFit/>
          </a:bodyPr>
          <a:lstStyle/>
          <a:p>
            <a:pPr algn="l"/>
            <a:r>
              <a:rPr sz="2500" b="1" i="0">
                <a:solidFill>
                  <a:srgbClr val="202124"/>
                </a:solidFill>
                <a:latin typeface="Aptos"/>
              </a:rPr>
              <a:t>What can graduates expect across a career?</a:t>
            </a:r>
          </a:p>
        </p:txBody>
      </p:sp>
      <p:sp>
        <p:nvSpPr>
          <p:cNvPr id="5" name="TextBox 4"/>
          <p:cNvSpPr txBox="1"/>
          <p:nvPr/>
        </p:nvSpPr>
        <p:spPr>
          <a:xfrm>
            <a:off x="612648" y="1246270"/>
            <a:ext cx="3456972" cy="232371"/>
          </a:xfrm>
          <a:prstGeom prst="rect">
            <a:avLst/>
          </a:prstGeom>
          <a:noFill/>
        </p:spPr>
        <p:txBody>
          <a:bodyPr wrap="none" lIns="27432" tIns="27432" rIns="27432" bIns="27432" anchor="ctr">
            <a:spAutoFit/>
          </a:bodyPr>
          <a:lstStyle/>
          <a:p>
            <a:pPr algn="l"/>
            <a:r>
              <a:rPr sz="1150" b="0" i="0" dirty="0">
                <a:solidFill>
                  <a:srgbClr val="6B7280"/>
                </a:solidFill>
                <a:latin typeface="Aptos"/>
              </a:rPr>
              <a:t>The earnings trajectory associated with each program</a:t>
            </a:r>
          </a:p>
        </p:txBody>
      </p:sp>
      <p:sp>
        <p:nvSpPr>
          <p:cNvPr id="6" name="TextBox 5"/>
          <p:cNvSpPr txBox="1"/>
          <p:nvPr/>
        </p:nvSpPr>
        <p:spPr>
          <a:xfrm>
            <a:off x="11109960" y="365760"/>
            <a:ext cx="502920" cy="228600"/>
          </a:xfrm>
          <a:prstGeom prst="rect">
            <a:avLst/>
          </a:prstGeom>
          <a:noFill/>
        </p:spPr>
        <p:txBody>
          <a:bodyPr wrap="none" lIns="27432" tIns="27432" rIns="27432" bIns="27432" anchor="ctr">
            <a:spAutoFit/>
          </a:bodyPr>
          <a:lstStyle/>
          <a:p>
            <a:pPr algn="r"/>
            <a:r>
              <a:rPr sz="900" b="1" i="0">
                <a:solidFill>
                  <a:srgbClr val="9CA3AF"/>
                </a:solidFill>
                <a:latin typeface="Aptos"/>
              </a:rPr>
              <a:t>07</a:t>
            </a:r>
          </a:p>
        </p:txBody>
      </p:sp>
      <p:grpSp>
        <p:nvGrpSpPr>
          <p:cNvPr id="22" name="Group 21">
            <a:extLst>
              <a:ext uri="{FF2B5EF4-FFF2-40B4-BE49-F238E27FC236}">
                <a16:creationId xmlns:a16="http://schemas.microsoft.com/office/drawing/2014/main" id="{D484344B-E0B3-FDDC-FE5E-316C2193D292}"/>
              </a:ext>
            </a:extLst>
          </p:cNvPr>
          <p:cNvGrpSpPr/>
          <p:nvPr/>
        </p:nvGrpSpPr>
        <p:grpSpPr>
          <a:xfrm>
            <a:off x="594360" y="1664207"/>
            <a:ext cx="6584400" cy="4496400"/>
            <a:chOff x="594360" y="1664208"/>
            <a:chExt cx="7360920" cy="4160520"/>
          </a:xfrm>
        </p:grpSpPr>
        <p:sp>
          <p:nvSpPr>
            <p:cNvPr id="7" name="Rounded Rectangle 6"/>
            <p:cNvSpPr/>
            <p:nvPr/>
          </p:nvSpPr>
          <p:spPr>
            <a:xfrm>
              <a:off x="594360" y="1664208"/>
              <a:ext cx="7360920" cy="4160520"/>
            </a:xfrm>
            <a:prstGeom prst="roundRect">
              <a:avLst>
                <a:gd name="adj" fmla="val 8000"/>
              </a:avLst>
            </a:prstGeom>
            <a:solidFill>
              <a:srgbClr val="F2FAFD"/>
            </a:solidFill>
            <a:ln>
              <a:solidFill>
                <a:srgbClr val="DCF2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795528" y="1865376"/>
              <a:ext cx="6958584" cy="3758183"/>
            </a:xfrm>
            <a:prstGeom prst="roundRect">
              <a:avLst>
                <a:gd name="adj" fmla="val 8000"/>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1865376"/>
              <a:ext cx="6629400" cy="292608"/>
            </a:xfrm>
            <a:prstGeom prst="rect">
              <a:avLst/>
            </a:prstGeom>
            <a:noFill/>
          </p:spPr>
          <p:txBody>
            <a:bodyPr wrap="none" lIns="27432" tIns="27432" rIns="27432" bIns="27432" anchor="ctr">
              <a:spAutoFit/>
            </a:bodyPr>
            <a:lstStyle/>
            <a:p>
              <a:pPr algn="ctr"/>
              <a:r>
                <a:rPr sz="1300" b="1" i="0">
                  <a:solidFill>
                    <a:srgbClr val="237BA5"/>
                  </a:solidFill>
                  <a:latin typeface="Aptos"/>
                </a:rPr>
                <a:t>CAREER TRAJECTORY CHART</a:t>
              </a:r>
            </a:p>
          </p:txBody>
        </p:sp>
      </p:grpSp>
      <p:cxnSp>
        <p:nvCxnSpPr>
          <p:cNvPr id="17" name="Connector 16"/>
          <p:cNvCxnSpPr/>
          <p:nvPr/>
        </p:nvCxnSpPr>
        <p:spPr>
          <a:xfrm>
            <a:off x="594360" y="6446520"/>
            <a:ext cx="11000232" cy="0"/>
          </a:xfrm>
          <a:prstGeom prst="line">
            <a:avLst/>
          </a:prstGeom>
          <a:ln w="10160">
            <a:solidFill>
              <a:srgbClr val="E5E7EB"/>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21792" y="6498272"/>
            <a:ext cx="7664855" cy="170816"/>
          </a:xfrm>
          <a:prstGeom prst="rect">
            <a:avLst/>
          </a:prstGeom>
          <a:noFill/>
        </p:spPr>
        <p:txBody>
          <a:bodyPr wrap="none" lIns="27432" tIns="27432" rIns="27432" bIns="27432" anchor="ctr">
            <a:spAutoFit/>
          </a:bodyPr>
          <a:lstStyle/>
          <a:p>
            <a:pPr algn="l"/>
            <a:r>
              <a:rPr sz="750" b="0" i="0" dirty="0">
                <a:solidFill>
                  <a:srgbClr val="9CA3AF"/>
                </a:solidFill>
                <a:latin typeface="Aptos"/>
              </a:rPr>
              <a:t>Source:</a:t>
            </a:r>
            <a:r>
              <a:rPr lang="en-CA" sz="750" b="0" i="0" dirty="0">
                <a:solidFill>
                  <a:srgbClr val="9CA3AF"/>
                </a:solidFill>
                <a:latin typeface="Aptos"/>
              </a:rPr>
              <a:t> </a:t>
            </a:r>
            <a:r>
              <a:rPr lang="en-US" sz="750" b="0" i="0" dirty="0">
                <a:solidFill>
                  <a:srgbClr val="9CA3AF"/>
                </a:solidFill>
                <a:latin typeface="Aptos"/>
              </a:rPr>
              <a:t>Lab, M. (2026, August 1). College majors 2026: Earnings, Debt, jobs, AI. Kaggle. https://www.kaggle.com/datasets/kylefengkfeng209/college-majors-2026-earnings-debt-jobs-ai </a:t>
            </a:r>
            <a:r>
              <a:rPr sz="750" b="0" i="0" dirty="0">
                <a:solidFill>
                  <a:srgbClr val="9CA3AF"/>
                </a:solidFill>
                <a:latin typeface="Aptos"/>
              </a:rPr>
              <a:t> </a:t>
            </a:r>
          </a:p>
        </p:txBody>
      </p:sp>
      <p:pic>
        <p:nvPicPr>
          <p:cNvPr id="23" name="Picture 22">
            <a:extLst>
              <a:ext uri="{FF2B5EF4-FFF2-40B4-BE49-F238E27FC236}">
                <a16:creationId xmlns:a16="http://schemas.microsoft.com/office/drawing/2014/main" id="{E311E0CE-5191-9D9F-42A0-9DD82BC3DD08}"/>
              </a:ext>
            </a:extLst>
          </p:cNvPr>
          <p:cNvPicPr>
            <a:picLocks noChangeAspect="1"/>
          </p:cNvPicPr>
          <p:nvPr/>
        </p:nvPicPr>
        <p:blipFill>
          <a:blip r:embed="rId2"/>
          <a:srcRect l="2327"/>
          <a:stretch>
            <a:fillRect/>
          </a:stretch>
        </p:blipFill>
        <p:spPr>
          <a:xfrm>
            <a:off x="1750844" y="2148839"/>
            <a:ext cx="4271432" cy="3703547"/>
          </a:xfrm>
          <a:prstGeom prst="rect">
            <a:avLst/>
          </a:prstGeom>
        </p:spPr>
      </p:pic>
      <p:sp>
        <p:nvSpPr>
          <p:cNvPr id="38" name="TextBox 37">
            <a:extLst>
              <a:ext uri="{FF2B5EF4-FFF2-40B4-BE49-F238E27FC236}">
                <a16:creationId xmlns:a16="http://schemas.microsoft.com/office/drawing/2014/main" id="{644C833B-B8B8-4ED8-60BA-2F1D12AAC1EA}"/>
              </a:ext>
            </a:extLst>
          </p:cNvPr>
          <p:cNvSpPr txBox="1"/>
          <p:nvPr/>
        </p:nvSpPr>
        <p:spPr>
          <a:xfrm>
            <a:off x="7837560" y="1739115"/>
            <a:ext cx="1398716" cy="186205"/>
          </a:xfrm>
          <a:prstGeom prst="rect">
            <a:avLst/>
          </a:prstGeom>
          <a:noFill/>
        </p:spPr>
        <p:txBody>
          <a:bodyPr wrap="none" lIns="27432" tIns="27432" rIns="27432" bIns="27432" anchor="ctr">
            <a:spAutoFit/>
          </a:bodyPr>
          <a:lstStyle/>
          <a:p>
            <a:pPr algn="l"/>
            <a:r>
              <a:rPr sz="850" b="1" i="0" dirty="0">
                <a:solidFill>
                  <a:srgbClr val="237BA5"/>
                </a:solidFill>
                <a:latin typeface="Aptos"/>
              </a:rPr>
              <a:t>HOW TO READ THIS</a:t>
            </a:r>
            <a:r>
              <a:rPr lang="en-CA" sz="850" b="1" i="0" dirty="0">
                <a:solidFill>
                  <a:srgbClr val="237BA5"/>
                </a:solidFill>
                <a:latin typeface="Aptos"/>
              </a:rPr>
              <a:t> CHART</a:t>
            </a:r>
            <a:endParaRPr sz="850" b="1" i="0" dirty="0">
              <a:solidFill>
                <a:srgbClr val="237BA5"/>
              </a:solidFill>
              <a:latin typeface="Aptos"/>
            </a:endParaRPr>
          </a:p>
        </p:txBody>
      </p:sp>
      <p:sp>
        <p:nvSpPr>
          <p:cNvPr id="39" name="TextBox 38">
            <a:extLst>
              <a:ext uri="{FF2B5EF4-FFF2-40B4-BE49-F238E27FC236}">
                <a16:creationId xmlns:a16="http://schemas.microsoft.com/office/drawing/2014/main" id="{51B45B06-1AD4-D726-7BA6-66D4C8D18CA3}"/>
              </a:ext>
            </a:extLst>
          </p:cNvPr>
          <p:cNvSpPr txBox="1"/>
          <p:nvPr/>
        </p:nvSpPr>
        <p:spPr>
          <a:xfrm>
            <a:off x="7837560" y="2913805"/>
            <a:ext cx="3618000" cy="3170099"/>
          </a:xfrm>
          <a:prstGeom prst="rect">
            <a:avLst/>
          </a:prstGeom>
          <a:noFill/>
        </p:spPr>
        <p:txBody>
          <a:bodyPr wrap="square" rtlCol="0">
            <a:spAutoFit/>
          </a:bodyPr>
          <a:lstStyle/>
          <a:p>
            <a:pPr lvl="0"/>
            <a:r>
              <a:rPr lang="en-US" sz="1400" b="1" dirty="0">
                <a:solidFill>
                  <a:srgbClr val="33AFE2"/>
                </a:solidFill>
              </a:rPr>
              <a:t>U.S. bachelor’s earnings growth is steep overall, with exceptions  in Education and Healthcare.</a:t>
            </a:r>
          </a:p>
          <a:p>
            <a:pPr lvl="0"/>
            <a:r>
              <a:rPr lang="en-CA" sz="1400" b="1" dirty="0">
                <a:solidFill>
                  <a:srgbClr val="33AFE2"/>
                </a:solidFill>
              </a:rPr>
              <a:t> </a:t>
            </a:r>
          </a:p>
          <a:p>
            <a:pPr marL="285750" lvl="0" indent="-285750">
              <a:buFont typeface="Arial" panose="020B0604020202020204" pitchFamily="34" charset="0"/>
              <a:buChar char="•"/>
            </a:pPr>
            <a:r>
              <a:rPr lang="en-CA" sz="1400" dirty="0"/>
              <a:t>Most programs trend </a:t>
            </a:r>
            <a:r>
              <a:rPr lang="en-CA" sz="1400" b="1" dirty="0"/>
              <a:t>"steep"</a:t>
            </a:r>
            <a:r>
              <a:rPr lang="en-CA" sz="1400" dirty="0"/>
              <a:t> growth (earnings climb dramatically from year 1 to year 5)</a:t>
            </a:r>
          </a:p>
          <a:p>
            <a:pPr marL="285750" lvl="0" indent="-285750">
              <a:buFont typeface="Arial" panose="020B0604020202020204" pitchFamily="34" charset="0"/>
              <a:buChar char="•"/>
            </a:pPr>
            <a:endParaRPr lang="en-CA" sz="1400" dirty="0"/>
          </a:p>
          <a:p>
            <a:pPr marL="285750" lvl="0" indent="-285750">
              <a:buFont typeface="Arial" panose="020B0604020202020204" pitchFamily="34" charset="0"/>
              <a:buChar char="•"/>
            </a:pPr>
            <a:r>
              <a:rPr lang="en-CA" sz="1400" b="1" dirty="0"/>
              <a:t>Education (51% "slow")</a:t>
            </a:r>
            <a:r>
              <a:rPr lang="en-CA" sz="1400" dirty="0"/>
              <a:t> and </a:t>
            </a:r>
            <a:r>
              <a:rPr lang="en-CA" sz="1400" b="1" dirty="0"/>
              <a:t>Health Professions (41% "slow")</a:t>
            </a:r>
            <a:r>
              <a:rPr lang="en-CA" sz="1400" dirty="0"/>
              <a:t> are outliers from this trend. Graduates in these fields see much flatter earnings growth over their career compared to others.</a:t>
            </a:r>
          </a:p>
          <a:p>
            <a:endParaRPr lang="en-CA" dirty="0"/>
          </a:p>
        </p:txBody>
      </p:sp>
      <p:sp>
        <p:nvSpPr>
          <p:cNvPr id="40" name="TextBox 39">
            <a:extLst>
              <a:ext uri="{FF2B5EF4-FFF2-40B4-BE49-F238E27FC236}">
                <a16:creationId xmlns:a16="http://schemas.microsoft.com/office/drawing/2014/main" id="{D0FBD7A7-7EDE-F436-C99A-F7F45B9C16F2}"/>
              </a:ext>
            </a:extLst>
          </p:cNvPr>
          <p:cNvSpPr txBox="1"/>
          <p:nvPr/>
        </p:nvSpPr>
        <p:spPr>
          <a:xfrm>
            <a:off x="7784552" y="1855111"/>
            <a:ext cx="3970126" cy="830997"/>
          </a:xfrm>
          <a:prstGeom prst="rect">
            <a:avLst/>
          </a:prstGeom>
          <a:noFill/>
        </p:spPr>
        <p:txBody>
          <a:bodyPr wrap="square" rtlCol="0">
            <a:spAutoFit/>
          </a:bodyPr>
          <a:lstStyle/>
          <a:p>
            <a:pPr lvl="0"/>
            <a:r>
              <a:rPr lang="en-CA" sz="1200" b="1" dirty="0"/>
              <a:t>Row = Program:</a:t>
            </a:r>
            <a:r>
              <a:rPr lang="en-CA" sz="1200" dirty="0"/>
              <a:t> Shows 100% distribution of graduate earnings trajectories</a:t>
            </a:r>
          </a:p>
          <a:p>
            <a:pPr lvl="0"/>
            <a:r>
              <a:rPr lang="en-CA" sz="1200" b="1" dirty="0"/>
              <a:t>Color = Concentration:</a:t>
            </a:r>
            <a:r>
              <a:rPr lang="en-CA" sz="1200" dirty="0"/>
              <a:t> Darker blue indicates a higher percentage in that category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9B8BA2-7F84-FF33-2629-EC94A008B2CF}"/>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E4D3C5D2-6118-A5A0-72DE-4FC0690F6002}"/>
              </a:ext>
            </a:extLst>
          </p:cNvPr>
          <p:cNvSpPr/>
          <p:nvPr/>
        </p:nvSpPr>
        <p:spPr>
          <a:xfrm>
            <a:off x="0" y="0"/>
            <a:ext cx="146304" cy="6858000"/>
          </a:xfrm>
          <a:prstGeom prst="rect">
            <a:avLst/>
          </a:prstGeom>
          <a:solidFill>
            <a:srgbClr val="33AFE2"/>
          </a:solidFill>
          <a:ln>
            <a:solidFill>
              <a:srgbClr val="33AF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2" name="Group 11">
            <a:extLst>
              <a:ext uri="{FF2B5EF4-FFF2-40B4-BE49-F238E27FC236}">
                <a16:creationId xmlns:a16="http://schemas.microsoft.com/office/drawing/2014/main" id="{CFD8ED25-DEBA-23E3-2714-98DC72BCE7E7}"/>
              </a:ext>
            </a:extLst>
          </p:cNvPr>
          <p:cNvGrpSpPr/>
          <p:nvPr/>
        </p:nvGrpSpPr>
        <p:grpSpPr>
          <a:xfrm>
            <a:off x="3617148" y="2270495"/>
            <a:ext cx="4957704" cy="2317011"/>
            <a:chOff x="3275578" y="2270495"/>
            <a:chExt cx="4957704" cy="2317011"/>
          </a:xfrm>
        </p:grpSpPr>
        <p:sp>
          <p:nvSpPr>
            <p:cNvPr id="8" name="TextBox 7">
              <a:extLst>
                <a:ext uri="{FF2B5EF4-FFF2-40B4-BE49-F238E27FC236}">
                  <a16:creationId xmlns:a16="http://schemas.microsoft.com/office/drawing/2014/main" id="{35435709-9F66-F109-52DD-A0A5362D1C0D}"/>
                </a:ext>
              </a:extLst>
            </p:cNvPr>
            <p:cNvSpPr txBox="1"/>
            <p:nvPr/>
          </p:nvSpPr>
          <p:spPr>
            <a:xfrm>
              <a:off x="3422574" y="2270495"/>
              <a:ext cx="4663713" cy="640175"/>
            </a:xfrm>
            <a:prstGeom prst="rect">
              <a:avLst/>
            </a:prstGeom>
            <a:noFill/>
          </p:spPr>
          <p:txBody>
            <a:bodyPr wrap="none" lIns="27432" tIns="27432" rIns="27432" bIns="27432" anchor="ctr">
              <a:spAutoFit/>
            </a:bodyPr>
            <a:lstStyle/>
            <a:p>
              <a:pPr algn="ctr"/>
              <a:r>
                <a:rPr lang="en-CA" sz="3800" b="1" dirty="0">
                  <a:latin typeface="Aptos"/>
                </a:rPr>
                <a:t>Artificial Intelligence</a:t>
              </a:r>
              <a:endParaRPr sz="3800" b="1" i="0" dirty="0">
                <a:latin typeface="Aptos"/>
              </a:endParaRPr>
            </a:p>
          </p:txBody>
        </p:sp>
        <p:sp>
          <p:nvSpPr>
            <p:cNvPr id="9" name="TextBox 8">
              <a:extLst>
                <a:ext uri="{FF2B5EF4-FFF2-40B4-BE49-F238E27FC236}">
                  <a16:creationId xmlns:a16="http://schemas.microsoft.com/office/drawing/2014/main" id="{C3761BFA-7A90-4D05-D736-994A40E418F6}"/>
                </a:ext>
              </a:extLst>
            </p:cNvPr>
            <p:cNvSpPr txBox="1">
              <a:spLocks/>
            </p:cNvSpPr>
            <p:nvPr/>
          </p:nvSpPr>
          <p:spPr>
            <a:xfrm>
              <a:off x="3275578" y="3721878"/>
              <a:ext cx="4957704" cy="547842"/>
            </a:xfrm>
            <a:prstGeom prst="rect">
              <a:avLst/>
            </a:prstGeom>
            <a:noFill/>
          </p:spPr>
          <p:txBody>
            <a:bodyPr wrap="none" lIns="27432" tIns="27432" rIns="27432" bIns="27432" anchor="ctr">
              <a:spAutoFit/>
            </a:bodyPr>
            <a:lstStyle/>
            <a:p>
              <a:pPr algn="ctr"/>
              <a:r>
                <a:rPr lang="en-US" sz="1600" dirty="0">
                  <a:solidFill>
                    <a:srgbClr val="797F8C"/>
                  </a:solidFill>
                  <a:latin typeface="Aptos"/>
                </a:rPr>
                <a:t>How much of the work associated with each program is </a:t>
              </a:r>
            </a:p>
            <a:p>
              <a:pPr algn="ctr"/>
              <a:r>
                <a:rPr lang="en-US" sz="1600" dirty="0">
                  <a:solidFill>
                    <a:srgbClr val="797F8C"/>
                  </a:solidFill>
                  <a:latin typeface="Aptos"/>
                </a:rPr>
                <a:t>changing because of AI?</a:t>
              </a:r>
            </a:p>
          </p:txBody>
        </p:sp>
        <p:sp>
          <p:nvSpPr>
            <p:cNvPr id="10" name="TextBox 9">
              <a:extLst>
                <a:ext uri="{FF2B5EF4-FFF2-40B4-BE49-F238E27FC236}">
                  <a16:creationId xmlns:a16="http://schemas.microsoft.com/office/drawing/2014/main" id="{994DE492-4FB2-0430-3854-2E664C221D7A}"/>
                </a:ext>
              </a:extLst>
            </p:cNvPr>
            <p:cNvSpPr txBox="1"/>
            <p:nvPr/>
          </p:nvSpPr>
          <p:spPr>
            <a:xfrm>
              <a:off x="4348949" y="4401301"/>
              <a:ext cx="2810962" cy="186205"/>
            </a:xfrm>
            <a:prstGeom prst="rect">
              <a:avLst/>
            </a:prstGeom>
            <a:noFill/>
          </p:spPr>
          <p:txBody>
            <a:bodyPr wrap="none" lIns="27432" tIns="27432" rIns="27432" bIns="27432" anchor="ctr">
              <a:spAutoFit/>
            </a:bodyPr>
            <a:lstStyle/>
            <a:p>
              <a:pPr algn="ctr"/>
              <a:r>
                <a:rPr sz="850" b="1" i="0" dirty="0">
                  <a:solidFill>
                    <a:srgbClr val="33AFE2"/>
                  </a:solidFill>
                  <a:latin typeface="Aptos"/>
                </a:rPr>
                <a:t>PROGRAM OUTCOMES • EARNINGS • AI • EMPLOYMENT</a:t>
              </a:r>
            </a:p>
          </p:txBody>
        </p:sp>
        <p:sp>
          <p:nvSpPr>
            <p:cNvPr id="11" name="TextBox 10">
              <a:extLst>
                <a:ext uri="{FF2B5EF4-FFF2-40B4-BE49-F238E27FC236}">
                  <a16:creationId xmlns:a16="http://schemas.microsoft.com/office/drawing/2014/main" id="{43B016F0-A087-7A4B-DA4B-6FE9DB100923}"/>
                </a:ext>
              </a:extLst>
            </p:cNvPr>
            <p:cNvSpPr txBox="1"/>
            <p:nvPr/>
          </p:nvSpPr>
          <p:spPr>
            <a:xfrm>
              <a:off x="5341038" y="2781747"/>
              <a:ext cx="826784" cy="978729"/>
            </a:xfrm>
            <a:prstGeom prst="rect">
              <a:avLst/>
            </a:prstGeom>
            <a:noFill/>
          </p:spPr>
          <p:txBody>
            <a:bodyPr wrap="square" lIns="27432" tIns="27432" rIns="27432" bIns="27432" anchor="ctr">
              <a:spAutoFit/>
            </a:bodyPr>
            <a:lstStyle/>
            <a:p>
              <a:pPr algn="ctr"/>
              <a:r>
                <a:rPr lang="en-CA" sz="6000" b="1" i="0" dirty="0">
                  <a:solidFill>
                    <a:srgbClr val="33AFE2"/>
                  </a:solidFill>
                  <a:latin typeface="Aptos"/>
                </a:rPr>
                <a:t>2</a:t>
              </a:r>
              <a:endParaRPr sz="6000" b="1" i="0" dirty="0">
                <a:solidFill>
                  <a:srgbClr val="33AFE2"/>
                </a:solidFill>
                <a:latin typeface="Aptos"/>
              </a:endParaRPr>
            </a:p>
          </p:txBody>
        </p:sp>
      </p:grpSp>
    </p:spTree>
    <p:extLst>
      <p:ext uri="{BB962C8B-B14F-4D97-AF65-F5344CB8AC3E}">
        <p14:creationId xmlns:p14="http://schemas.microsoft.com/office/powerpoint/2010/main" val="12539908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33AFE2"/>
          </a:solidFill>
          <a:ln>
            <a:solidFill>
              <a:srgbClr val="33AF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37390"/>
            <a:ext cx="1432380" cy="193899"/>
          </a:xfrm>
          <a:prstGeom prst="rect">
            <a:avLst/>
          </a:prstGeom>
          <a:noFill/>
        </p:spPr>
        <p:txBody>
          <a:bodyPr wrap="none" lIns="27432" tIns="27432" rIns="27432" bIns="27432" anchor="ctr">
            <a:spAutoFit/>
          </a:bodyPr>
          <a:lstStyle/>
          <a:p>
            <a:pPr algn="l"/>
            <a:r>
              <a:rPr lang="en-CA" sz="900" b="1" dirty="0">
                <a:solidFill>
                  <a:srgbClr val="237BA5"/>
                </a:solidFill>
                <a:latin typeface="Aptos"/>
              </a:rPr>
              <a:t>ARTIFICIAL INTELLIGENCE</a:t>
            </a:r>
            <a:endParaRPr sz="900" b="1" i="0" dirty="0">
              <a:solidFill>
                <a:srgbClr val="237BA5"/>
              </a:solidFill>
              <a:latin typeface="Aptos"/>
            </a:endParaRPr>
          </a:p>
        </p:txBody>
      </p:sp>
      <p:sp>
        <p:nvSpPr>
          <p:cNvPr id="4" name="TextBox 3"/>
          <p:cNvSpPr txBox="1"/>
          <p:nvPr/>
        </p:nvSpPr>
        <p:spPr>
          <a:xfrm>
            <a:off x="594360" y="612648"/>
            <a:ext cx="10607040" cy="566928"/>
          </a:xfrm>
          <a:prstGeom prst="rect">
            <a:avLst/>
          </a:prstGeom>
          <a:noFill/>
        </p:spPr>
        <p:txBody>
          <a:bodyPr wrap="none" lIns="27432" tIns="27432" rIns="27432" bIns="27432" anchor="ctr">
            <a:spAutoFit/>
          </a:bodyPr>
          <a:lstStyle/>
          <a:p>
            <a:pPr algn="l"/>
            <a:r>
              <a:rPr sz="2500" b="1" i="0">
                <a:solidFill>
                  <a:srgbClr val="202124"/>
                </a:solidFill>
                <a:latin typeface="Aptos"/>
              </a:rPr>
              <a:t>Which programs’ graduates can expect to work most alongside AI?</a:t>
            </a:r>
          </a:p>
        </p:txBody>
      </p:sp>
      <p:sp>
        <p:nvSpPr>
          <p:cNvPr id="5" name="TextBox 4"/>
          <p:cNvSpPr txBox="1"/>
          <p:nvPr/>
        </p:nvSpPr>
        <p:spPr>
          <a:xfrm>
            <a:off x="612648" y="1246270"/>
            <a:ext cx="4362669" cy="232371"/>
          </a:xfrm>
          <a:prstGeom prst="rect">
            <a:avLst/>
          </a:prstGeom>
          <a:noFill/>
        </p:spPr>
        <p:txBody>
          <a:bodyPr wrap="none" lIns="27432" tIns="27432" rIns="27432" bIns="27432" anchor="ctr">
            <a:spAutoFit/>
          </a:bodyPr>
          <a:lstStyle/>
          <a:p>
            <a:pPr algn="l"/>
            <a:r>
              <a:rPr sz="1150" b="0" i="0" dirty="0" err="1">
                <a:solidFill>
                  <a:srgbClr val="6B7280"/>
                </a:solidFill>
                <a:latin typeface="Aptos"/>
              </a:rPr>
              <a:t>Measur</a:t>
            </a:r>
            <a:r>
              <a:rPr lang="en-CA" sz="1150" b="0" i="0" dirty="0" err="1">
                <a:solidFill>
                  <a:srgbClr val="6B7280"/>
                </a:solidFill>
                <a:latin typeface="Aptos"/>
              </a:rPr>
              <a:t>ing</a:t>
            </a:r>
            <a:r>
              <a:rPr sz="1150" b="0" i="0" dirty="0">
                <a:solidFill>
                  <a:srgbClr val="6B7280"/>
                </a:solidFill>
                <a:latin typeface="Aptos"/>
              </a:rPr>
              <a:t> the proportion of </a:t>
            </a:r>
            <a:r>
              <a:rPr lang="en-CA" sz="1150" b="0" i="0" dirty="0">
                <a:solidFill>
                  <a:srgbClr val="6B7280"/>
                </a:solidFill>
                <a:latin typeface="Aptos"/>
              </a:rPr>
              <a:t>program-</a:t>
            </a:r>
            <a:r>
              <a:rPr sz="1150" b="0" i="0" dirty="0">
                <a:solidFill>
                  <a:srgbClr val="6B7280"/>
                </a:solidFill>
                <a:latin typeface="Aptos"/>
              </a:rPr>
              <a:t>linked occupations that use AI</a:t>
            </a:r>
          </a:p>
        </p:txBody>
      </p:sp>
      <p:sp>
        <p:nvSpPr>
          <p:cNvPr id="6" name="TextBox 5"/>
          <p:cNvSpPr txBox="1"/>
          <p:nvPr/>
        </p:nvSpPr>
        <p:spPr>
          <a:xfrm>
            <a:off x="11435652" y="383110"/>
            <a:ext cx="177228" cy="193899"/>
          </a:xfrm>
          <a:prstGeom prst="rect">
            <a:avLst/>
          </a:prstGeom>
          <a:noFill/>
        </p:spPr>
        <p:txBody>
          <a:bodyPr wrap="none" lIns="27432" tIns="27432" rIns="27432" bIns="27432" anchor="ctr">
            <a:spAutoFit/>
          </a:bodyPr>
          <a:lstStyle/>
          <a:p>
            <a:pPr algn="r"/>
            <a:r>
              <a:rPr lang="en-CA" sz="900" b="1" dirty="0">
                <a:solidFill>
                  <a:srgbClr val="9CA3AF"/>
                </a:solidFill>
                <a:latin typeface="Aptos"/>
              </a:rPr>
              <a:t>09</a:t>
            </a:r>
            <a:endParaRPr sz="900" b="1" i="0" dirty="0">
              <a:solidFill>
                <a:srgbClr val="9CA3AF"/>
              </a:solidFill>
              <a:latin typeface="Aptos"/>
            </a:endParaRPr>
          </a:p>
        </p:txBody>
      </p:sp>
      <p:grpSp>
        <p:nvGrpSpPr>
          <p:cNvPr id="16" name="Group 15">
            <a:extLst>
              <a:ext uri="{FF2B5EF4-FFF2-40B4-BE49-F238E27FC236}">
                <a16:creationId xmlns:a16="http://schemas.microsoft.com/office/drawing/2014/main" id="{98F797ED-55E7-82E5-92D1-B25EC26179B6}"/>
              </a:ext>
            </a:extLst>
          </p:cNvPr>
          <p:cNvGrpSpPr/>
          <p:nvPr/>
        </p:nvGrpSpPr>
        <p:grpSpPr>
          <a:xfrm>
            <a:off x="594360" y="1664207"/>
            <a:ext cx="6720840" cy="4581141"/>
            <a:chOff x="594360" y="1664207"/>
            <a:chExt cx="6720840" cy="4581141"/>
          </a:xfrm>
        </p:grpSpPr>
        <p:sp>
          <p:nvSpPr>
            <p:cNvPr id="7" name="Rounded Rectangle 6"/>
            <p:cNvSpPr/>
            <p:nvPr/>
          </p:nvSpPr>
          <p:spPr>
            <a:xfrm>
              <a:off x="594360" y="1664207"/>
              <a:ext cx="6720840" cy="4581141"/>
            </a:xfrm>
            <a:prstGeom prst="roundRect">
              <a:avLst>
                <a:gd name="adj" fmla="val 8000"/>
              </a:avLst>
            </a:prstGeom>
            <a:solidFill>
              <a:srgbClr val="F2FAFD"/>
            </a:solidFill>
            <a:ln>
              <a:solidFill>
                <a:srgbClr val="DCF2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795528" y="1865376"/>
              <a:ext cx="6318503" cy="4138128"/>
            </a:xfrm>
            <a:prstGeom prst="roundRect">
              <a:avLst>
                <a:gd name="adj" fmla="val 8000"/>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9" name="TextBox 8"/>
          <p:cNvSpPr txBox="1"/>
          <p:nvPr/>
        </p:nvSpPr>
        <p:spPr>
          <a:xfrm>
            <a:off x="960120" y="1865376"/>
            <a:ext cx="5989320" cy="292608"/>
          </a:xfrm>
          <a:prstGeom prst="rect">
            <a:avLst/>
          </a:prstGeom>
          <a:noFill/>
        </p:spPr>
        <p:txBody>
          <a:bodyPr wrap="none" lIns="27432" tIns="27432" rIns="27432" bIns="27432" anchor="ctr">
            <a:spAutoFit/>
          </a:bodyPr>
          <a:lstStyle/>
          <a:p>
            <a:pPr algn="ctr"/>
            <a:r>
              <a:rPr sz="1300" b="1" i="0">
                <a:solidFill>
                  <a:srgbClr val="237BA5"/>
                </a:solidFill>
                <a:latin typeface="Aptos"/>
              </a:rPr>
              <a:t>AI EXPOSURE BY PROGRAM</a:t>
            </a:r>
          </a:p>
        </p:txBody>
      </p:sp>
      <p:cxnSp>
        <p:nvCxnSpPr>
          <p:cNvPr id="12" name="Connector 11"/>
          <p:cNvCxnSpPr/>
          <p:nvPr/>
        </p:nvCxnSpPr>
        <p:spPr>
          <a:xfrm>
            <a:off x="594360" y="6446520"/>
            <a:ext cx="11000232" cy="0"/>
          </a:xfrm>
          <a:prstGeom prst="line">
            <a:avLst/>
          </a:prstGeom>
          <a:ln w="10160">
            <a:solidFill>
              <a:srgbClr val="E5E7EB"/>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21792" y="6498272"/>
            <a:ext cx="7618368" cy="170816"/>
          </a:xfrm>
          <a:prstGeom prst="rect">
            <a:avLst/>
          </a:prstGeom>
          <a:noFill/>
        </p:spPr>
        <p:txBody>
          <a:bodyPr wrap="none" lIns="27432" tIns="27432" rIns="27432" bIns="27432" anchor="ctr">
            <a:spAutoFit/>
          </a:bodyPr>
          <a:lstStyle/>
          <a:p>
            <a:pPr algn="l"/>
            <a:r>
              <a:rPr lang="en-US" sz="750" b="0" i="0" dirty="0">
                <a:solidFill>
                  <a:srgbClr val="9CA3AF"/>
                </a:solidFill>
                <a:latin typeface="Aptos"/>
              </a:rPr>
              <a:t>Source: Lab, M. (2026, August 1). College majors 2026: Earnings, Debt, jobs, AI. Kaggle. https://www.kaggle.com/datasets/kylefengkfeng209/college-majors-2026-earnings-debt-jobs-ai </a:t>
            </a:r>
            <a:endParaRPr sz="750" b="0" i="0" dirty="0">
              <a:solidFill>
                <a:srgbClr val="9CA3AF"/>
              </a:solidFill>
              <a:latin typeface="Aptos"/>
            </a:endParaRPr>
          </a:p>
        </p:txBody>
      </p:sp>
      <p:pic>
        <p:nvPicPr>
          <p:cNvPr id="15" name="Picture 14">
            <a:extLst>
              <a:ext uri="{FF2B5EF4-FFF2-40B4-BE49-F238E27FC236}">
                <a16:creationId xmlns:a16="http://schemas.microsoft.com/office/drawing/2014/main" id="{CFE7F3DF-CC88-14CA-4687-74063F53EF5F}"/>
              </a:ext>
            </a:extLst>
          </p:cNvPr>
          <p:cNvPicPr>
            <a:picLocks noChangeAspect="1"/>
          </p:cNvPicPr>
          <p:nvPr/>
        </p:nvPicPr>
        <p:blipFill>
          <a:blip r:embed="rId2"/>
          <a:srcRect l="2621"/>
          <a:stretch>
            <a:fillRect/>
          </a:stretch>
        </p:blipFill>
        <p:spPr>
          <a:xfrm>
            <a:off x="1630018" y="2102191"/>
            <a:ext cx="4866632" cy="3901313"/>
          </a:xfrm>
          <a:prstGeom prst="rect">
            <a:avLst/>
          </a:prstGeom>
        </p:spPr>
      </p:pic>
      <p:sp>
        <p:nvSpPr>
          <p:cNvPr id="18" name="Rectangle 17">
            <a:extLst>
              <a:ext uri="{FF2B5EF4-FFF2-40B4-BE49-F238E27FC236}">
                <a16:creationId xmlns:a16="http://schemas.microsoft.com/office/drawing/2014/main" id="{AAE90096-5F86-3C93-65C4-F7326FC8090A}"/>
              </a:ext>
            </a:extLst>
          </p:cNvPr>
          <p:cNvSpPr/>
          <p:nvPr/>
        </p:nvSpPr>
        <p:spPr>
          <a:xfrm>
            <a:off x="7725960" y="1664207"/>
            <a:ext cx="3841200" cy="4497103"/>
          </a:xfrm>
          <a:prstGeom prst="rect">
            <a:avLst/>
          </a:prstGeom>
          <a:solidFill>
            <a:schemeClr val="bg1"/>
          </a:solidFill>
          <a:ln>
            <a:solidFill>
              <a:schemeClr val="bg1">
                <a:lumMod val="9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CA" dirty="0">
              <a:solidFill>
                <a:schemeClr val="tx1"/>
              </a:solidFill>
            </a:endParaRPr>
          </a:p>
        </p:txBody>
      </p:sp>
      <p:sp>
        <p:nvSpPr>
          <p:cNvPr id="20" name="TextBox 19">
            <a:extLst>
              <a:ext uri="{FF2B5EF4-FFF2-40B4-BE49-F238E27FC236}">
                <a16:creationId xmlns:a16="http://schemas.microsoft.com/office/drawing/2014/main" id="{983AD850-744D-F6DC-10F9-18ECCA9550B7}"/>
              </a:ext>
            </a:extLst>
          </p:cNvPr>
          <p:cNvSpPr txBox="1"/>
          <p:nvPr/>
        </p:nvSpPr>
        <p:spPr>
          <a:xfrm>
            <a:off x="7837560" y="2466208"/>
            <a:ext cx="3618000" cy="2893100"/>
          </a:xfrm>
          <a:prstGeom prst="rect">
            <a:avLst/>
          </a:prstGeom>
          <a:noFill/>
        </p:spPr>
        <p:txBody>
          <a:bodyPr wrap="square" rtlCol="0">
            <a:spAutoFit/>
          </a:bodyPr>
          <a:lstStyle/>
          <a:p>
            <a:r>
              <a:rPr lang="en-CA" sz="1400" b="1" dirty="0">
                <a:solidFill>
                  <a:srgbClr val="33AFE2"/>
                </a:solidFill>
              </a:rPr>
              <a:t>AI tool exposure is concentrated almost entirely in tech and quantitative fields</a:t>
            </a:r>
          </a:p>
          <a:p>
            <a:endParaRPr lang="en-CA" sz="1400" b="1" dirty="0">
              <a:solidFill>
                <a:srgbClr val="33AFE2"/>
              </a:solidFill>
            </a:endParaRPr>
          </a:p>
          <a:p>
            <a:pPr marL="285750" indent="-285750">
              <a:buFont typeface="Arial" panose="020B0604020202020204" pitchFamily="34" charset="0"/>
              <a:buChar char="•"/>
            </a:pPr>
            <a:r>
              <a:rPr lang="en-CA" sz="1400" b="1" dirty="0"/>
              <a:t>Computer and Information Sciences </a:t>
            </a:r>
            <a:r>
              <a:rPr lang="en-CA" sz="1400" dirty="0"/>
              <a:t>leads by a wide margin (</a:t>
            </a:r>
            <a:r>
              <a:rPr lang="en-CA" sz="1400" b="1" dirty="0"/>
              <a:t>~53% </a:t>
            </a:r>
            <a:r>
              <a:rPr lang="en-CA" sz="1400" dirty="0"/>
              <a:t>of linked occupations use AI software), followed by </a:t>
            </a:r>
            <a:r>
              <a:rPr lang="en-CA" sz="1400" b="1" dirty="0"/>
              <a:t>Mathematics and Statistics (~45%) </a:t>
            </a:r>
            <a:r>
              <a:rPr lang="en-CA" sz="1400" dirty="0"/>
              <a:t>and </a:t>
            </a:r>
            <a:r>
              <a:rPr lang="en-CA" sz="1400" b="1" dirty="0"/>
              <a:t>Military Technologies (~29%)</a:t>
            </a:r>
          </a:p>
          <a:p>
            <a:pPr marL="285750" indent="-285750">
              <a:buFont typeface="Arial" panose="020B0604020202020204" pitchFamily="34" charset="0"/>
              <a:buChar char="•"/>
            </a:pPr>
            <a:endParaRPr lang="en-CA" sz="1400" b="1" dirty="0"/>
          </a:p>
          <a:p>
            <a:pPr marL="285750" indent="-285750">
              <a:buFont typeface="Arial" panose="020B0604020202020204" pitchFamily="34" charset="0"/>
              <a:buChar char="•"/>
            </a:pPr>
            <a:r>
              <a:rPr lang="en-CA" sz="1400" dirty="0"/>
              <a:t>Nearly </a:t>
            </a:r>
            <a:r>
              <a:rPr lang="en-CA" sz="1400" b="1" dirty="0"/>
              <a:t>every other program </a:t>
            </a:r>
            <a:r>
              <a:rPr lang="en-CA" sz="1400" dirty="0"/>
              <a:t>including most humanities, arts, and service-oriented fields</a:t>
            </a:r>
            <a:r>
              <a:rPr lang="en-CA" sz="1400" b="1" dirty="0"/>
              <a:t>, sit below 15%</a:t>
            </a:r>
            <a:r>
              <a:rPr lang="en-CA" sz="1400" dirty="0"/>
              <a:t>, with many close to 0%.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Rounded Corners 24">
            <a:extLst>
              <a:ext uri="{FF2B5EF4-FFF2-40B4-BE49-F238E27FC236}">
                <a16:creationId xmlns:a16="http://schemas.microsoft.com/office/drawing/2014/main" id="{F21E1766-001C-5173-5A0C-EAA5AD60BCE7}"/>
              </a:ext>
            </a:extLst>
          </p:cNvPr>
          <p:cNvSpPr/>
          <p:nvPr/>
        </p:nvSpPr>
        <p:spPr>
          <a:xfrm>
            <a:off x="7725960" y="1664207"/>
            <a:ext cx="3841200" cy="1043287"/>
          </a:xfrm>
          <a:prstGeom prst="roundRect">
            <a:avLst/>
          </a:prstGeom>
          <a:solidFill>
            <a:srgbClr val="F2FAFD"/>
          </a:solidFill>
          <a:ln>
            <a:solidFill>
              <a:schemeClr val="bg1">
                <a:lumMod val="9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CA"/>
          </a:p>
        </p:txBody>
      </p:sp>
      <p:sp>
        <p:nvSpPr>
          <p:cNvPr id="2" name="Rectangle 1"/>
          <p:cNvSpPr/>
          <p:nvPr/>
        </p:nvSpPr>
        <p:spPr>
          <a:xfrm>
            <a:off x="0" y="0"/>
            <a:ext cx="12191695" cy="73152"/>
          </a:xfrm>
          <a:prstGeom prst="rect">
            <a:avLst/>
          </a:prstGeom>
          <a:solidFill>
            <a:srgbClr val="33AFE2"/>
          </a:solidFill>
          <a:ln>
            <a:solidFill>
              <a:srgbClr val="33AF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37390"/>
            <a:ext cx="1432380" cy="193899"/>
          </a:xfrm>
          <a:prstGeom prst="rect">
            <a:avLst/>
          </a:prstGeom>
          <a:noFill/>
        </p:spPr>
        <p:txBody>
          <a:bodyPr wrap="none" lIns="27432" tIns="27432" rIns="27432" bIns="27432" anchor="ctr">
            <a:spAutoFit/>
          </a:bodyPr>
          <a:lstStyle/>
          <a:p>
            <a:pPr algn="l"/>
            <a:r>
              <a:rPr lang="en-CA" sz="900" b="1" i="0" dirty="0">
                <a:solidFill>
                  <a:srgbClr val="237BA5"/>
                </a:solidFill>
                <a:latin typeface="Aptos"/>
              </a:rPr>
              <a:t>ARTIFICIAL INTELLIGENCE</a:t>
            </a:r>
            <a:endParaRPr sz="900" b="1" i="0" dirty="0">
              <a:solidFill>
                <a:srgbClr val="237BA5"/>
              </a:solidFill>
              <a:latin typeface="Aptos"/>
            </a:endParaRPr>
          </a:p>
        </p:txBody>
      </p:sp>
      <p:sp>
        <p:nvSpPr>
          <p:cNvPr id="4" name="TextBox 3"/>
          <p:cNvSpPr txBox="1"/>
          <p:nvPr/>
        </p:nvSpPr>
        <p:spPr>
          <a:xfrm>
            <a:off x="594360" y="612648"/>
            <a:ext cx="10607040" cy="566928"/>
          </a:xfrm>
          <a:prstGeom prst="rect">
            <a:avLst/>
          </a:prstGeom>
          <a:noFill/>
        </p:spPr>
        <p:txBody>
          <a:bodyPr wrap="none" lIns="27432" tIns="27432" rIns="27432" bIns="27432" anchor="ctr">
            <a:spAutoFit/>
          </a:bodyPr>
          <a:lstStyle/>
          <a:p>
            <a:pPr algn="l"/>
            <a:r>
              <a:rPr sz="2500" b="1" i="0">
                <a:solidFill>
                  <a:srgbClr val="202124"/>
                </a:solidFill>
                <a:latin typeface="Aptos"/>
              </a:rPr>
              <a:t>Where are tasks most likely to be replaced by AI?</a:t>
            </a:r>
          </a:p>
        </p:txBody>
      </p:sp>
      <p:sp>
        <p:nvSpPr>
          <p:cNvPr id="5" name="TextBox 4"/>
          <p:cNvSpPr txBox="1"/>
          <p:nvPr/>
        </p:nvSpPr>
        <p:spPr>
          <a:xfrm>
            <a:off x="612648" y="1246270"/>
            <a:ext cx="5406224" cy="232371"/>
          </a:xfrm>
          <a:prstGeom prst="rect">
            <a:avLst/>
          </a:prstGeom>
          <a:noFill/>
        </p:spPr>
        <p:txBody>
          <a:bodyPr wrap="none" lIns="27432" tIns="27432" rIns="27432" bIns="27432" anchor="ctr">
            <a:spAutoFit/>
          </a:bodyPr>
          <a:lstStyle/>
          <a:p>
            <a:r>
              <a:rPr lang="en-US" sz="1150" dirty="0">
                <a:solidFill>
                  <a:srgbClr val="6B7280"/>
                </a:solidFill>
                <a:latin typeface="Aptos"/>
              </a:rPr>
              <a:t>Measuring the proportion of program-linked occupations exposed to expert-systems</a:t>
            </a:r>
          </a:p>
        </p:txBody>
      </p:sp>
      <p:sp>
        <p:nvSpPr>
          <p:cNvPr id="6" name="TextBox 5"/>
          <p:cNvSpPr txBox="1"/>
          <p:nvPr/>
        </p:nvSpPr>
        <p:spPr>
          <a:xfrm>
            <a:off x="11435652" y="383110"/>
            <a:ext cx="177228" cy="193899"/>
          </a:xfrm>
          <a:prstGeom prst="rect">
            <a:avLst/>
          </a:prstGeom>
          <a:noFill/>
        </p:spPr>
        <p:txBody>
          <a:bodyPr wrap="none" lIns="27432" tIns="27432" rIns="27432" bIns="27432" anchor="ctr">
            <a:spAutoFit/>
          </a:bodyPr>
          <a:lstStyle/>
          <a:p>
            <a:pPr algn="r"/>
            <a:r>
              <a:rPr lang="en-CA" sz="900" b="1" i="0" dirty="0">
                <a:solidFill>
                  <a:srgbClr val="9CA3AF"/>
                </a:solidFill>
                <a:latin typeface="Aptos"/>
              </a:rPr>
              <a:t>10</a:t>
            </a:r>
            <a:endParaRPr sz="900" b="1" i="0" dirty="0">
              <a:solidFill>
                <a:srgbClr val="9CA3AF"/>
              </a:solidFill>
              <a:latin typeface="Aptos"/>
            </a:endParaRPr>
          </a:p>
        </p:txBody>
      </p:sp>
      <p:grpSp>
        <p:nvGrpSpPr>
          <p:cNvPr id="20" name="Group 19">
            <a:extLst>
              <a:ext uri="{FF2B5EF4-FFF2-40B4-BE49-F238E27FC236}">
                <a16:creationId xmlns:a16="http://schemas.microsoft.com/office/drawing/2014/main" id="{65318BCE-40AD-4327-85DA-5FCD2405E2D9}"/>
              </a:ext>
            </a:extLst>
          </p:cNvPr>
          <p:cNvGrpSpPr/>
          <p:nvPr/>
        </p:nvGrpSpPr>
        <p:grpSpPr>
          <a:xfrm>
            <a:off x="594360" y="1664208"/>
            <a:ext cx="6720840" cy="4558860"/>
            <a:chOff x="594360" y="1664208"/>
            <a:chExt cx="6720840" cy="4558860"/>
          </a:xfrm>
        </p:grpSpPr>
        <p:sp>
          <p:nvSpPr>
            <p:cNvPr id="7" name="Rounded Rectangle 6"/>
            <p:cNvSpPr/>
            <p:nvPr/>
          </p:nvSpPr>
          <p:spPr>
            <a:xfrm>
              <a:off x="594360" y="1664208"/>
              <a:ext cx="6720840" cy="4558860"/>
            </a:xfrm>
            <a:prstGeom prst="roundRect">
              <a:avLst>
                <a:gd name="adj" fmla="val 8000"/>
              </a:avLst>
            </a:prstGeom>
            <a:solidFill>
              <a:srgbClr val="F2FAFD"/>
            </a:solidFill>
            <a:ln>
              <a:solidFill>
                <a:srgbClr val="DCF2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795528" y="1865376"/>
              <a:ext cx="6318503" cy="4118002"/>
            </a:xfrm>
            <a:prstGeom prst="roundRect">
              <a:avLst>
                <a:gd name="adj" fmla="val 8000"/>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9" name="TextBox 8"/>
          <p:cNvSpPr txBox="1"/>
          <p:nvPr/>
        </p:nvSpPr>
        <p:spPr>
          <a:xfrm>
            <a:off x="960120" y="1865376"/>
            <a:ext cx="5989320" cy="292608"/>
          </a:xfrm>
          <a:prstGeom prst="rect">
            <a:avLst/>
          </a:prstGeom>
          <a:noFill/>
        </p:spPr>
        <p:txBody>
          <a:bodyPr wrap="none" lIns="27432" tIns="27432" rIns="27432" bIns="27432" anchor="ctr">
            <a:spAutoFit/>
          </a:bodyPr>
          <a:lstStyle/>
          <a:p>
            <a:pPr algn="ctr"/>
            <a:r>
              <a:rPr sz="1300" b="1" i="0" dirty="0">
                <a:solidFill>
                  <a:srgbClr val="237BA5"/>
                </a:solidFill>
                <a:latin typeface="Aptos"/>
              </a:rPr>
              <a:t>EXPERT-SYSTEM EXPOSURE</a:t>
            </a:r>
          </a:p>
        </p:txBody>
      </p:sp>
      <p:sp>
        <p:nvSpPr>
          <p:cNvPr id="12" name="TextBox 11"/>
          <p:cNvSpPr txBox="1"/>
          <p:nvPr/>
        </p:nvSpPr>
        <p:spPr>
          <a:xfrm>
            <a:off x="7837560" y="1747203"/>
            <a:ext cx="640496" cy="186205"/>
          </a:xfrm>
          <a:prstGeom prst="rect">
            <a:avLst/>
          </a:prstGeom>
          <a:noFill/>
        </p:spPr>
        <p:txBody>
          <a:bodyPr wrap="none" lIns="27432" tIns="27432" rIns="27432" bIns="27432" anchor="ctr">
            <a:spAutoFit/>
          </a:bodyPr>
          <a:lstStyle/>
          <a:p>
            <a:pPr algn="l"/>
            <a:r>
              <a:rPr lang="en-CA" sz="850" b="1" i="0" dirty="0">
                <a:solidFill>
                  <a:srgbClr val="237BA5"/>
                </a:solidFill>
                <a:latin typeface="Aptos"/>
              </a:rPr>
              <a:t>DEFINITION</a:t>
            </a:r>
            <a:endParaRPr sz="850" b="1" i="0" dirty="0">
              <a:solidFill>
                <a:srgbClr val="237BA5"/>
              </a:solidFill>
              <a:latin typeface="Aptos"/>
            </a:endParaRPr>
          </a:p>
        </p:txBody>
      </p:sp>
      <p:sp>
        <p:nvSpPr>
          <p:cNvPr id="13" name="TextBox 12"/>
          <p:cNvSpPr txBox="1"/>
          <p:nvPr/>
        </p:nvSpPr>
        <p:spPr>
          <a:xfrm>
            <a:off x="7837560" y="1934084"/>
            <a:ext cx="2166299" cy="286232"/>
          </a:xfrm>
          <a:prstGeom prst="rect">
            <a:avLst/>
          </a:prstGeom>
          <a:noFill/>
        </p:spPr>
        <p:txBody>
          <a:bodyPr wrap="none" lIns="27432" tIns="27432" rIns="27432" bIns="27432" anchor="ctr">
            <a:spAutoFit/>
          </a:bodyPr>
          <a:lstStyle/>
          <a:p>
            <a:pPr algn="l"/>
            <a:r>
              <a:rPr sz="1500" b="1" i="0" dirty="0">
                <a:solidFill>
                  <a:srgbClr val="202124"/>
                </a:solidFill>
                <a:latin typeface="Aptos"/>
              </a:rPr>
              <a:t>Expert-</a:t>
            </a:r>
            <a:r>
              <a:rPr sz="1500" b="1" i="0" dirty="0" err="1">
                <a:solidFill>
                  <a:srgbClr val="202124"/>
                </a:solidFill>
                <a:latin typeface="Aptos"/>
              </a:rPr>
              <a:t>syste</a:t>
            </a:r>
            <a:r>
              <a:rPr lang="en-CA" sz="1500" b="1" i="0" dirty="0">
                <a:solidFill>
                  <a:srgbClr val="202124"/>
                </a:solidFill>
                <a:latin typeface="Aptos"/>
              </a:rPr>
              <a:t>m exposure</a:t>
            </a:r>
            <a:endParaRPr sz="1500" b="1" i="0" dirty="0">
              <a:solidFill>
                <a:srgbClr val="202124"/>
              </a:solidFill>
              <a:latin typeface="Aptos"/>
            </a:endParaRPr>
          </a:p>
        </p:txBody>
      </p:sp>
      <p:sp>
        <p:nvSpPr>
          <p:cNvPr id="14" name="TextBox 13"/>
          <p:cNvSpPr txBox="1"/>
          <p:nvPr/>
        </p:nvSpPr>
        <p:spPr>
          <a:xfrm>
            <a:off x="7837560" y="2219539"/>
            <a:ext cx="3420000" cy="301621"/>
          </a:xfrm>
          <a:prstGeom prst="rect">
            <a:avLst/>
          </a:prstGeom>
          <a:noFill/>
        </p:spPr>
        <p:txBody>
          <a:bodyPr wrap="square" lIns="27432" tIns="27432" rIns="27432" bIns="27432" anchor="ctr">
            <a:spAutoFit/>
          </a:bodyPr>
          <a:lstStyle/>
          <a:p>
            <a:pPr algn="l"/>
            <a:r>
              <a:rPr sz="800" b="0" i="0" dirty="0">
                <a:solidFill>
                  <a:srgbClr val="6B7280"/>
                </a:solidFill>
                <a:latin typeface="Aptos"/>
              </a:rPr>
              <a:t>[</a:t>
            </a:r>
            <a:r>
              <a:rPr lang="en-US" sz="800" dirty="0">
                <a:solidFill>
                  <a:srgbClr val="6B7280"/>
                </a:solidFill>
                <a:latin typeface="Aptos"/>
              </a:rPr>
              <a:t>The proportion of occupations linked to a college program that utilize AI expert systems designed to emulate specialized human decision-making</a:t>
            </a:r>
            <a:r>
              <a:rPr sz="800" b="0" i="0" dirty="0">
                <a:solidFill>
                  <a:srgbClr val="6B7280"/>
                </a:solidFill>
                <a:latin typeface="Aptos"/>
              </a:rPr>
              <a:t>]</a:t>
            </a:r>
          </a:p>
        </p:txBody>
      </p:sp>
      <p:cxnSp>
        <p:nvCxnSpPr>
          <p:cNvPr id="16" name="Connector 15"/>
          <p:cNvCxnSpPr/>
          <p:nvPr/>
        </p:nvCxnSpPr>
        <p:spPr>
          <a:xfrm>
            <a:off x="594360" y="6446520"/>
            <a:ext cx="11000232" cy="0"/>
          </a:xfrm>
          <a:prstGeom prst="line">
            <a:avLst/>
          </a:prstGeom>
          <a:ln w="10160">
            <a:solidFill>
              <a:srgbClr val="E5E7EB"/>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21792" y="6498272"/>
            <a:ext cx="7645619" cy="170816"/>
          </a:xfrm>
          <a:prstGeom prst="rect">
            <a:avLst/>
          </a:prstGeom>
          <a:noFill/>
        </p:spPr>
        <p:txBody>
          <a:bodyPr wrap="none" lIns="27432" tIns="27432" rIns="27432" bIns="27432" anchor="ctr">
            <a:spAutoFit/>
          </a:bodyPr>
          <a:lstStyle/>
          <a:p>
            <a:r>
              <a:rPr lang="en-US" sz="750" dirty="0">
                <a:solidFill>
                  <a:srgbClr val="9CA3AF"/>
                </a:solidFill>
                <a:latin typeface="Aptos"/>
              </a:rPr>
              <a:t>Source: Lab, M. (2026, August 1). College majors 2026: Earnings, Debt, jobs, AI. Kaggle. https://www.kaggle.com/datasets/kylefengkfeng209/college-majors-2026-earnings-debt-jobs-ai</a:t>
            </a:r>
            <a:endParaRPr sz="750" b="0" i="0" dirty="0">
              <a:solidFill>
                <a:srgbClr val="9CA3AF"/>
              </a:solidFill>
              <a:latin typeface="Aptos"/>
            </a:endParaRPr>
          </a:p>
        </p:txBody>
      </p:sp>
      <p:pic>
        <p:nvPicPr>
          <p:cNvPr id="19" name="Picture 18">
            <a:extLst>
              <a:ext uri="{FF2B5EF4-FFF2-40B4-BE49-F238E27FC236}">
                <a16:creationId xmlns:a16="http://schemas.microsoft.com/office/drawing/2014/main" id="{C9099934-72D7-DA2E-797C-A8353691FA0F}"/>
              </a:ext>
            </a:extLst>
          </p:cNvPr>
          <p:cNvPicPr>
            <a:picLocks noChangeAspect="1"/>
          </p:cNvPicPr>
          <p:nvPr/>
        </p:nvPicPr>
        <p:blipFill>
          <a:blip r:embed="rId2"/>
          <a:srcRect l="2233"/>
          <a:stretch>
            <a:fillRect/>
          </a:stretch>
        </p:blipFill>
        <p:spPr>
          <a:xfrm>
            <a:off x="1441010" y="2080978"/>
            <a:ext cx="4959790" cy="3902400"/>
          </a:xfrm>
          <a:prstGeom prst="rect">
            <a:avLst/>
          </a:prstGeom>
        </p:spPr>
      </p:pic>
      <p:sp>
        <p:nvSpPr>
          <p:cNvPr id="23" name="Rectangle 22">
            <a:extLst>
              <a:ext uri="{FF2B5EF4-FFF2-40B4-BE49-F238E27FC236}">
                <a16:creationId xmlns:a16="http://schemas.microsoft.com/office/drawing/2014/main" id="{F511E33E-4D76-5A92-BC85-99EA79AFB979}"/>
              </a:ext>
            </a:extLst>
          </p:cNvPr>
          <p:cNvSpPr/>
          <p:nvPr/>
        </p:nvSpPr>
        <p:spPr>
          <a:xfrm>
            <a:off x="7725960" y="2911709"/>
            <a:ext cx="3841200" cy="3373014"/>
          </a:xfrm>
          <a:prstGeom prst="rect">
            <a:avLst/>
          </a:prstGeom>
          <a:solidFill>
            <a:schemeClr val="bg1"/>
          </a:solidFill>
          <a:ln>
            <a:solidFill>
              <a:schemeClr val="bg1">
                <a:lumMod val="9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CA" dirty="0">
              <a:solidFill>
                <a:schemeClr val="tx1"/>
              </a:solidFill>
            </a:endParaRPr>
          </a:p>
        </p:txBody>
      </p:sp>
      <p:sp>
        <p:nvSpPr>
          <p:cNvPr id="26" name="TextBox 25">
            <a:extLst>
              <a:ext uri="{FF2B5EF4-FFF2-40B4-BE49-F238E27FC236}">
                <a16:creationId xmlns:a16="http://schemas.microsoft.com/office/drawing/2014/main" id="{02BE6C47-6DE6-1775-863C-BDECED2E6C55}"/>
              </a:ext>
            </a:extLst>
          </p:cNvPr>
          <p:cNvSpPr txBox="1"/>
          <p:nvPr/>
        </p:nvSpPr>
        <p:spPr>
          <a:xfrm>
            <a:off x="7837560" y="2936223"/>
            <a:ext cx="3618000" cy="3323987"/>
          </a:xfrm>
          <a:prstGeom prst="rect">
            <a:avLst/>
          </a:prstGeom>
          <a:noFill/>
        </p:spPr>
        <p:txBody>
          <a:bodyPr wrap="square" rtlCol="0">
            <a:spAutoFit/>
          </a:bodyPr>
          <a:lstStyle/>
          <a:p>
            <a:r>
              <a:rPr lang="en-CA" sz="1400" b="1" dirty="0">
                <a:solidFill>
                  <a:srgbClr val="33AFE2"/>
                </a:solidFill>
              </a:rPr>
              <a:t>Expert-system exposure is heavily concentrated in Computer Science, and also in other STEM related roles</a:t>
            </a:r>
          </a:p>
          <a:p>
            <a:endParaRPr lang="en-CA" sz="1400" b="1" dirty="0"/>
          </a:p>
          <a:p>
            <a:pPr marL="285750" indent="-285750">
              <a:buFont typeface="Arial" panose="020B0604020202020204" pitchFamily="34" charset="0"/>
              <a:buChar char="•"/>
            </a:pPr>
            <a:r>
              <a:rPr lang="en-CA" sz="1400" b="1" dirty="0"/>
              <a:t>Computer and Information Sciences </a:t>
            </a:r>
            <a:r>
              <a:rPr lang="en-CA" sz="1400" dirty="0"/>
              <a:t>leads in expert-system exposure by a wide margin (</a:t>
            </a:r>
            <a:r>
              <a:rPr lang="en-CA" sz="1400" b="1" dirty="0"/>
              <a:t>~72%</a:t>
            </a:r>
            <a:r>
              <a:rPr lang="en-CA" sz="1400" dirty="0"/>
              <a:t> of linked occupations tied to expert-system technology), with </a:t>
            </a:r>
            <a:r>
              <a:rPr lang="en-CA" sz="1400" b="1" dirty="0"/>
              <a:t>Engineering (~38%)</a:t>
            </a:r>
            <a:r>
              <a:rPr lang="en-CA" sz="1400" dirty="0"/>
              <a:t>,</a:t>
            </a:r>
            <a:r>
              <a:rPr lang="en-CA" sz="1400" b="1" dirty="0"/>
              <a:t> Architecture (~30%), and Transportation and Materials Moving (~29%) </a:t>
            </a:r>
            <a:r>
              <a:rPr lang="en-CA" sz="1400" dirty="0"/>
              <a:t>form a distinct second tier</a:t>
            </a:r>
          </a:p>
          <a:p>
            <a:pPr marL="285750" indent="-285750">
              <a:buFont typeface="Arial" panose="020B0604020202020204" pitchFamily="34" charset="0"/>
              <a:buChar char="•"/>
            </a:pPr>
            <a:endParaRPr lang="en-CA" sz="1400" dirty="0"/>
          </a:p>
          <a:p>
            <a:pPr marL="285750" indent="-285750">
              <a:buFont typeface="Arial" panose="020B0604020202020204" pitchFamily="34" charset="0"/>
              <a:buChar char="•"/>
            </a:pPr>
            <a:r>
              <a:rPr lang="en-CA" sz="1400" dirty="0"/>
              <a:t> Beyond these four programs, exposure drops off with the majority of remaining programs falling under </a:t>
            </a:r>
            <a:r>
              <a:rPr lang="en-CA" sz="1400" b="1" dirty="0"/>
              <a:t>15%</a:t>
            </a:r>
            <a:endParaRPr lang="en-CA"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46304" cy="6858000"/>
          </a:xfrm>
          <a:prstGeom prst="rect">
            <a:avLst/>
          </a:prstGeom>
          <a:solidFill>
            <a:srgbClr val="33AFE2"/>
          </a:solidFill>
          <a:ln>
            <a:solidFill>
              <a:srgbClr val="33AF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3" name="Group 12">
            <a:extLst>
              <a:ext uri="{FF2B5EF4-FFF2-40B4-BE49-F238E27FC236}">
                <a16:creationId xmlns:a16="http://schemas.microsoft.com/office/drawing/2014/main" id="{EB9A4944-926E-B205-E51F-01CF6D2A824A}"/>
              </a:ext>
            </a:extLst>
          </p:cNvPr>
          <p:cNvGrpSpPr/>
          <p:nvPr/>
        </p:nvGrpSpPr>
        <p:grpSpPr>
          <a:xfrm>
            <a:off x="3695087" y="2270495"/>
            <a:ext cx="4801827" cy="2317011"/>
            <a:chOff x="3617148" y="2270495"/>
            <a:chExt cx="4801827" cy="2317011"/>
          </a:xfrm>
        </p:grpSpPr>
        <p:sp>
          <p:nvSpPr>
            <p:cNvPr id="9" name="TextBox 8">
              <a:extLst>
                <a:ext uri="{FF2B5EF4-FFF2-40B4-BE49-F238E27FC236}">
                  <a16:creationId xmlns:a16="http://schemas.microsoft.com/office/drawing/2014/main" id="{86E32486-A5EF-00B6-04D6-EDB08A3C9299}"/>
                </a:ext>
              </a:extLst>
            </p:cNvPr>
            <p:cNvSpPr txBox="1"/>
            <p:nvPr/>
          </p:nvSpPr>
          <p:spPr>
            <a:xfrm>
              <a:off x="4582892" y="2270495"/>
              <a:ext cx="2870338" cy="640175"/>
            </a:xfrm>
            <a:prstGeom prst="rect">
              <a:avLst/>
            </a:prstGeom>
            <a:noFill/>
          </p:spPr>
          <p:txBody>
            <a:bodyPr wrap="none" lIns="27432" tIns="27432" rIns="27432" bIns="27432" anchor="ctr">
              <a:spAutoFit/>
            </a:bodyPr>
            <a:lstStyle/>
            <a:p>
              <a:pPr algn="ctr"/>
              <a:r>
                <a:rPr lang="en-CA" sz="3800" b="1" dirty="0">
                  <a:latin typeface="Aptos"/>
                </a:rPr>
                <a:t>Employment</a:t>
              </a:r>
              <a:endParaRPr sz="3800" b="1" i="0" dirty="0">
                <a:latin typeface="Aptos"/>
              </a:endParaRPr>
            </a:p>
          </p:txBody>
        </p:sp>
        <p:sp>
          <p:nvSpPr>
            <p:cNvPr id="10" name="TextBox 9">
              <a:extLst>
                <a:ext uri="{FF2B5EF4-FFF2-40B4-BE49-F238E27FC236}">
                  <a16:creationId xmlns:a16="http://schemas.microsoft.com/office/drawing/2014/main" id="{7F8111FB-791E-24F5-F61D-A5ACF470D28C}"/>
                </a:ext>
              </a:extLst>
            </p:cNvPr>
            <p:cNvSpPr txBox="1">
              <a:spLocks/>
            </p:cNvSpPr>
            <p:nvPr/>
          </p:nvSpPr>
          <p:spPr>
            <a:xfrm>
              <a:off x="3617148" y="3721878"/>
              <a:ext cx="4801827" cy="547842"/>
            </a:xfrm>
            <a:prstGeom prst="rect">
              <a:avLst/>
            </a:prstGeom>
            <a:noFill/>
          </p:spPr>
          <p:txBody>
            <a:bodyPr wrap="none" lIns="27432" tIns="27432" rIns="27432" bIns="27432" anchor="ctr">
              <a:spAutoFit/>
            </a:bodyPr>
            <a:lstStyle/>
            <a:p>
              <a:pPr algn="ctr"/>
              <a:r>
                <a:rPr lang="en-US" sz="1600" dirty="0">
                  <a:solidFill>
                    <a:srgbClr val="797F8C"/>
                  </a:solidFill>
                  <a:latin typeface="Aptos"/>
                </a:rPr>
                <a:t>Where do graduates go, and which programs have the </a:t>
              </a:r>
            </a:p>
            <a:p>
              <a:pPr algn="ctr"/>
              <a:r>
                <a:rPr lang="en-US" sz="1600" dirty="0">
                  <a:solidFill>
                    <a:srgbClr val="797F8C"/>
                  </a:solidFill>
                  <a:latin typeface="Aptos"/>
                </a:rPr>
                <a:t>highest share of students not working?</a:t>
              </a:r>
            </a:p>
          </p:txBody>
        </p:sp>
        <p:sp>
          <p:nvSpPr>
            <p:cNvPr id="11" name="TextBox 10">
              <a:extLst>
                <a:ext uri="{FF2B5EF4-FFF2-40B4-BE49-F238E27FC236}">
                  <a16:creationId xmlns:a16="http://schemas.microsoft.com/office/drawing/2014/main" id="{ED604759-BA52-AEC0-E389-21A0A563B513}"/>
                </a:ext>
              </a:extLst>
            </p:cNvPr>
            <p:cNvSpPr txBox="1"/>
            <p:nvPr/>
          </p:nvSpPr>
          <p:spPr>
            <a:xfrm>
              <a:off x="4612580" y="4401301"/>
              <a:ext cx="2810962" cy="186205"/>
            </a:xfrm>
            <a:prstGeom prst="rect">
              <a:avLst/>
            </a:prstGeom>
            <a:noFill/>
          </p:spPr>
          <p:txBody>
            <a:bodyPr wrap="none" lIns="27432" tIns="27432" rIns="27432" bIns="27432" anchor="ctr">
              <a:spAutoFit/>
            </a:bodyPr>
            <a:lstStyle/>
            <a:p>
              <a:pPr algn="ctr"/>
              <a:r>
                <a:rPr sz="850" b="1" i="0" dirty="0">
                  <a:solidFill>
                    <a:srgbClr val="33AFE2"/>
                  </a:solidFill>
                  <a:latin typeface="Aptos"/>
                </a:rPr>
                <a:t>PROGRAM OUTCOMES • EARNINGS • AI • EMPLOYMENT</a:t>
              </a:r>
            </a:p>
          </p:txBody>
        </p:sp>
        <p:sp>
          <p:nvSpPr>
            <p:cNvPr id="12" name="TextBox 11">
              <a:extLst>
                <a:ext uri="{FF2B5EF4-FFF2-40B4-BE49-F238E27FC236}">
                  <a16:creationId xmlns:a16="http://schemas.microsoft.com/office/drawing/2014/main" id="{275698F7-ED0C-867A-F010-82BCF4DC5ACD}"/>
                </a:ext>
              </a:extLst>
            </p:cNvPr>
            <p:cNvSpPr txBox="1"/>
            <p:nvPr/>
          </p:nvSpPr>
          <p:spPr>
            <a:xfrm>
              <a:off x="5757980" y="2781747"/>
              <a:ext cx="520163" cy="978729"/>
            </a:xfrm>
            <a:prstGeom prst="rect">
              <a:avLst/>
            </a:prstGeom>
            <a:noFill/>
          </p:spPr>
          <p:txBody>
            <a:bodyPr wrap="square" lIns="27432" tIns="27432" rIns="27432" bIns="27432" anchor="ctr">
              <a:spAutoFit/>
            </a:bodyPr>
            <a:lstStyle/>
            <a:p>
              <a:pPr algn="ctr"/>
              <a:r>
                <a:rPr lang="en-CA" sz="6000" b="1" dirty="0">
                  <a:solidFill>
                    <a:srgbClr val="33AFE2"/>
                  </a:solidFill>
                  <a:latin typeface="Aptos"/>
                </a:rPr>
                <a:t>3</a:t>
              </a:r>
              <a:endParaRPr sz="6000" b="1" i="0" dirty="0">
                <a:solidFill>
                  <a:srgbClr val="33AFE2"/>
                </a:solidFill>
                <a:latin typeface="Aptos"/>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33AFE2"/>
          </a:solidFill>
          <a:ln>
            <a:solidFill>
              <a:srgbClr val="33AF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2194560" cy="228600"/>
          </a:xfrm>
          <a:prstGeom prst="rect">
            <a:avLst/>
          </a:prstGeom>
          <a:noFill/>
        </p:spPr>
        <p:txBody>
          <a:bodyPr wrap="none" lIns="27432" tIns="27432" rIns="27432" bIns="27432" anchor="ctr">
            <a:spAutoFit/>
          </a:bodyPr>
          <a:lstStyle/>
          <a:p>
            <a:pPr algn="l"/>
            <a:r>
              <a:rPr sz="900" b="1" i="0">
                <a:solidFill>
                  <a:srgbClr val="237BA5"/>
                </a:solidFill>
                <a:latin typeface="Aptos"/>
              </a:rPr>
              <a:t>EMPLOYMENT</a:t>
            </a:r>
          </a:p>
        </p:txBody>
      </p:sp>
      <p:sp>
        <p:nvSpPr>
          <p:cNvPr id="4" name="TextBox 3"/>
          <p:cNvSpPr txBox="1"/>
          <p:nvPr/>
        </p:nvSpPr>
        <p:spPr>
          <a:xfrm>
            <a:off x="594360" y="676052"/>
            <a:ext cx="10397333" cy="440120"/>
          </a:xfrm>
          <a:prstGeom prst="rect">
            <a:avLst/>
          </a:prstGeom>
          <a:noFill/>
        </p:spPr>
        <p:txBody>
          <a:bodyPr wrap="none" lIns="27432" tIns="27432" rIns="27432" bIns="27432" anchor="ctr">
            <a:spAutoFit/>
          </a:bodyPr>
          <a:lstStyle/>
          <a:p>
            <a:pPr algn="l"/>
            <a:r>
              <a:rPr sz="2500" b="1" i="0" dirty="0">
                <a:solidFill>
                  <a:srgbClr val="202124"/>
                </a:solidFill>
                <a:latin typeface="Aptos"/>
              </a:rPr>
              <a:t>Which programs have the highest percentage of students not working?</a:t>
            </a:r>
            <a:r>
              <a:rPr lang="en-CA" sz="2500" b="1" baseline="30000" dirty="0">
                <a:solidFill>
                  <a:srgbClr val="202124"/>
                </a:solidFill>
                <a:latin typeface="Aptos"/>
              </a:rPr>
              <a:t>1</a:t>
            </a:r>
            <a:endParaRPr sz="2500" b="1" i="0" baseline="30000" dirty="0">
              <a:solidFill>
                <a:srgbClr val="202124"/>
              </a:solidFill>
              <a:latin typeface="Aptos"/>
            </a:endParaRPr>
          </a:p>
        </p:txBody>
      </p:sp>
      <p:sp>
        <p:nvSpPr>
          <p:cNvPr id="5" name="TextBox 4"/>
          <p:cNvSpPr txBox="1"/>
          <p:nvPr/>
        </p:nvSpPr>
        <p:spPr>
          <a:xfrm>
            <a:off x="612648" y="1246270"/>
            <a:ext cx="4304961" cy="232371"/>
          </a:xfrm>
          <a:prstGeom prst="rect">
            <a:avLst/>
          </a:prstGeom>
          <a:noFill/>
        </p:spPr>
        <p:txBody>
          <a:bodyPr wrap="none" lIns="27432" tIns="27432" rIns="27432" bIns="27432" anchor="ctr">
            <a:spAutoFit/>
          </a:bodyPr>
          <a:lstStyle/>
          <a:p>
            <a:pPr algn="l"/>
            <a:r>
              <a:rPr sz="1150" b="0" i="0" dirty="0">
                <a:solidFill>
                  <a:srgbClr val="6B7280"/>
                </a:solidFill>
                <a:latin typeface="Aptos"/>
              </a:rPr>
              <a:t>Identify</a:t>
            </a:r>
            <a:r>
              <a:rPr lang="en-CA" sz="1150" b="0" i="0" dirty="0" err="1">
                <a:solidFill>
                  <a:srgbClr val="6B7280"/>
                </a:solidFill>
                <a:latin typeface="Aptos"/>
              </a:rPr>
              <a:t>ing</a:t>
            </a:r>
            <a:r>
              <a:rPr lang="en-CA" sz="1150" b="0" i="0" dirty="0">
                <a:solidFill>
                  <a:srgbClr val="6B7280"/>
                </a:solidFill>
                <a:latin typeface="Aptos"/>
              </a:rPr>
              <a:t> each</a:t>
            </a:r>
            <a:r>
              <a:rPr sz="1150" b="0" i="0" dirty="0">
                <a:solidFill>
                  <a:srgbClr val="6B7280"/>
                </a:solidFill>
                <a:latin typeface="Aptos"/>
              </a:rPr>
              <a:t> programs</a:t>
            </a:r>
            <a:r>
              <a:rPr lang="en-CA" sz="1150" b="0" i="0" dirty="0">
                <a:solidFill>
                  <a:srgbClr val="6B7280"/>
                </a:solidFill>
                <a:latin typeface="Aptos"/>
              </a:rPr>
              <a:t>'</a:t>
            </a:r>
            <a:r>
              <a:rPr sz="1150" b="0" i="0" dirty="0">
                <a:solidFill>
                  <a:srgbClr val="6B7280"/>
                </a:solidFill>
                <a:latin typeface="Aptos"/>
              </a:rPr>
              <a:t> post-graduation employment </a:t>
            </a:r>
            <a:r>
              <a:rPr sz="1150" b="0" i="0" dirty="0" err="1">
                <a:solidFill>
                  <a:srgbClr val="6B7280"/>
                </a:solidFill>
                <a:latin typeface="Aptos"/>
              </a:rPr>
              <a:t>outcom</a:t>
            </a:r>
            <a:r>
              <a:rPr lang="en-CA" sz="1150" b="0" i="0" dirty="0">
                <a:solidFill>
                  <a:srgbClr val="6B7280"/>
                </a:solidFill>
                <a:latin typeface="Aptos"/>
              </a:rPr>
              <a:t>es</a:t>
            </a:r>
            <a:endParaRPr sz="1150" b="0" i="0" dirty="0">
              <a:solidFill>
                <a:srgbClr val="6B7280"/>
              </a:solidFill>
              <a:latin typeface="Aptos"/>
            </a:endParaRPr>
          </a:p>
        </p:txBody>
      </p:sp>
      <p:sp>
        <p:nvSpPr>
          <p:cNvPr id="6" name="TextBox 5"/>
          <p:cNvSpPr txBox="1"/>
          <p:nvPr/>
        </p:nvSpPr>
        <p:spPr>
          <a:xfrm>
            <a:off x="11435652" y="383110"/>
            <a:ext cx="177228" cy="193899"/>
          </a:xfrm>
          <a:prstGeom prst="rect">
            <a:avLst/>
          </a:prstGeom>
          <a:noFill/>
        </p:spPr>
        <p:txBody>
          <a:bodyPr wrap="none" lIns="27432" tIns="27432" rIns="27432" bIns="27432" anchor="ctr">
            <a:spAutoFit/>
          </a:bodyPr>
          <a:lstStyle/>
          <a:p>
            <a:pPr algn="r"/>
            <a:r>
              <a:rPr lang="en-CA" sz="900" b="1" dirty="0">
                <a:solidFill>
                  <a:srgbClr val="9CA3AF"/>
                </a:solidFill>
                <a:latin typeface="Aptos"/>
              </a:rPr>
              <a:t>12</a:t>
            </a:r>
            <a:endParaRPr sz="900" b="1" i="0" dirty="0">
              <a:solidFill>
                <a:srgbClr val="9CA3AF"/>
              </a:solidFill>
              <a:latin typeface="Aptos"/>
            </a:endParaRPr>
          </a:p>
        </p:txBody>
      </p:sp>
      <p:grpSp>
        <p:nvGrpSpPr>
          <p:cNvPr id="18" name="Group 17">
            <a:extLst>
              <a:ext uri="{FF2B5EF4-FFF2-40B4-BE49-F238E27FC236}">
                <a16:creationId xmlns:a16="http://schemas.microsoft.com/office/drawing/2014/main" id="{A5F9F79F-F4A3-1FC4-21C5-17381739B32E}"/>
              </a:ext>
            </a:extLst>
          </p:cNvPr>
          <p:cNvGrpSpPr/>
          <p:nvPr/>
        </p:nvGrpSpPr>
        <p:grpSpPr>
          <a:xfrm>
            <a:off x="594360" y="1664207"/>
            <a:ext cx="6812280" cy="4486219"/>
            <a:chOff x="594360" y="1664207"/>
            <a:chExt cx="6812280" cy="4486219"/>
          </a:xfrm>
        </p:grpSpPr>
        <p:sp>
          <p:nvSpPr>
            <p:cNvPr id="7" name="Rounded Rectangle 6"/>
            <p:cNvSpPr/>
            <p:nvPr/>
          </p:nvSpPr>
          <p:spPr>
            <a:xfrm>
              <a:off x="594360" y="1664207"/>
              <a:ext cx="6812280" cy="4486219"/>
            </a:xfrm>
            <a:prstGeom prst="roundRect">
              <a:avLst>
                <a:gd name="adj" fmla="val 8000"/>
              </a:avLst>
            </a:prstGeom>
            <a:solidFill>
              <a:srgbClr val="F2FAFD"/>
            </a:solidFill>
            <a:ln>
              <a:solidFill>
                <a:srgbClr val="DCF2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795528" y="1865376"/>
              <a:ext cx="6409944" cy="4052386"/>
            </a:xfrm>
            <a:prstGeom prst="roundRect">
              <a:avLst>
                <a:gd name="adj" fmla="val 8000"/>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9" name="TextBox 8"/>
          <p:cNvSpPr txBox="1"/>
          <p:nvPr/>
        </p:nvSpPr>
        <p:spPr>
          <a:xfrm>
            <a:off x="2576360" y="1883952"/>
            <a:ext cx="2848280" cy="255455"/>
          </a:xfrm>
          <a:prstGeom prst="rect">
            <a:avLst/>
          </a:prstGeom>
          <a:noFill/>
        </p:spPr>
        <p:txBody>
          <a:bodyPr wrap="none" lIns="27432" tIns="27432" rIns="27432" bIns="27432" anchor="ctr">
            <a:spAutoFit/>
          </a:bodyPr>
          <a:lstStyle/>
          <a:p>
            <a:pPr algn="ctr"/>
            <a:r>
              <a:rPr sz="1300" b="1" i="0" dirty="0">
                <a:solidFill>
                  <a:srgbClr val="237BA5"/>
                </a:solidFill>
                <a:latin typeface="Aptos"/>
              </a:rPr>
              <a:t>NOT-WORKING </a:t>
            </a:r>
            <a:r>
              <a:rPr lang="en-CA" sz="1300" b="1" i="0" dirty="0">
                <a:solidFill>
                  <a:srgbClr val="237BA5"/>
                </a:solidFill>
                <a:latin typeface="Aptos"/>
              </a:rPr>
              <a:t>COUNT BY PROGRAM</a:t>
            </a:r>
            <a:endParaRPr sz="1300" b="1" i="0" dirty="0">
              <a:solidFill>
                <a:srgbClr val="237BA5"/>
              </a:solidFill>
              <a:latin typeface="Aptos"/>
            </a:endParaRPr>
          </a:p>
        </p:txBody>
      </p:sp>
      <p:cxnSp>
        <p:nvCxnSpPr>
          <p:cNvPr id="12" name="Connector 11"/>
          <p:cNvCxnSpPr/>
          <p:nvPr/>
        </p:nvCxnSpPr>
        <p:spPr>
          <a:xfrm>
            <a:off x="594360" y="6446520"/>
            <a:ext cx="11000232" cy="0"/>
          </a:xfrm>
          <a:prstGeom prst="line">
            <a:avLst/>
          </a:prstGeom>
          <a:ln w="10160">
            <a:solidFill>
              <a:srgbClr val="E5E7EB"/>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21792" y="6498272"/>
            <a:ext cx="7645619" cy="170816"/>
          </a:xfrm>
          <a:prstGeom prst="rect">
            <a:avLst/>
          </a:prstGeom>
          <a:noFill/>
        </p:spPr>
        <p:txBody>
          <a:bodyPr wrap="none" lIns="27432" tIns="27432" rIns="27432" bIns="27432" anchor="ctr">
            <a:spAutoFit/>
          </a:bodyPr>
          <a:lstStyle/>
          <a:p>
            <a:r>
              <a:rPr lang="en-US" sz="750" dirty="0">
                <a:solidFill>
                  <a:srgbClr val="9CA3AF"/>
                </a:solidFill>
                <a:latin typeface="Aptos"/>
              </a:rPr>
              <a:t>Source: Lab, M. (2026, August 1). College majors 2026: Earnings, Debt, jobs, AI. Kaggle. https://www.kaggle.com/datasets/kylefengkfeng209/college-majors-2026-earnings-debt-jobs-ai</a:t>
            </a:r>
            <a:endParaRPr sz="750" b="0" i="0" dirty="0">
              <a:solidFill>
                <a:srgbClr val="9CA3AF"/>
              </a:solidFill>
              <a:latin typeface="Aptos"/>
            </a:endParaRPr>
          </a:p>
        </p:txBody>
      </p:sp>
      <p:pic>
        <p:nvPicPr>
          <p:cNvPr id="17" name="Picture 16">
            <a:extLst>
              <a:ext uri="{FF2B5EF4-FFF2-40B4-BE49-F238E27FC236}">
                <a16:creationId xmlns:a16="http://schemas.microsoft.com/office/drawing/2014/main" id="{18786A13-49FE-E434-1129-02428B1C312E}"/>
              </a:ext>
            </a:extLst>
          </p:cNvPr>
          <p:cNvPicPr>
            <a:picLocks noChangeAspect="1"/>
          </p:cNvPicPr>
          <p:nvPr/>
        </p:nvPicPr>
        <p:blipFill>
          <a:blip r:embed="rId2"/>
          <a:srcRect l="2763"/>
          <a:stretch>
            <a:fillRect/>
          </a:stretch>
        </p:blipFill>
        <p:spPr>
          <a:xfrm>
            <a:off x="1792548" y="2093505"/>
            <a:ext cx="4415905" cy="3627623"/>
          </a:xfrm>
          <a:prstGeom prst="rect">
            <a:avLst/>
          </a:prstGeom>
        </p:spPr>
      </p:pic>
      <p:sp>
        <p:nvSpPr>
          <p:cNvPr id="20" name="Rectangle 19">
            <a:extLst>
              <a:ext uri="{FF2B5EF4-FFF2-40B4-BE49-F238E27FC236}">
                <a16:creationId xmlns:a16="http://schemas.microsoft.com/office/drawing/2014/main" id="{81FF58F8-E16D-CBB4-463E-75296F6DBE4F}"/>
              </a:ext>
            </a:extLst>
          </p:cNvPr>
          <p:cNvSpPr/>
          <p:nvPr/>
        </p:nvSpPr>
        <p:spPr>
          <a:xfrm>
            <a:off x="7725960" y="1664207"/>
            <a:ext cx="3841200" cy="4497103"/>
          </a:xfrm>
          <a:prstGeom prst="rect">
            <a:avLst/>
          </a:prstGeom>
          <a:solidFill>
            <a:schemeClr val="bg1"/>
          </a:solidFill>
          <a:ln>
            <a:solidFill>
              <a:schemeClr val="bg1">
                <a:lumMod val="9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CA" dirty="0">
              <a:solidFill>
                <a:schemeClr val="tx1"/>
              </a:solidFill>
            </a:endParaRPr>
          </a:p>
        </p:txBody>
      </p:sp>
      <p:sp>
        <p:nvSpPr>
          <p:cNvPr id="21" name="TextBox 20">
            <a:extLst>
              <a:ext uri="{FF2B5EF4-FFF2-40B4-BE49-F238E27FC236}">
                <a16:creationId xmlns:a16="http://schemas.microsoft.com/office/drawing/2014/main" id="{4FE5D3F5-AA9D-A19F-3DCA-709783E7EBD7}"/>
              </a:ext>
            </a:extLst>
          </p:cNvPr>
          <p:cNvSpPr txBox="1"/>
          <p:nvPr/>
        </p:nvSpPr>
        <p:spPr>
          <a:xfrm>
            <a:off x="7837560" y="2358487"/>
            <a:ext cx="3618000" cy="3108543"/>
          </a:xfrm>
          <a:prstGeom prst="rect">
            <a:avLst/>
          </a:prstGeom>
          <a:noFill/>
        </p:spPr>
        <p:txBody>
          <a:bodyPr wrap="square" rtlCol="0">
            <a:spAutoFit/>
          </a:bodyPr>
          <a:lstStyle/>
          <a:p>
            <a:pPr lvl="0"/>
            <a:r>
              <a:rPr lang="en-US" sz="1400" b="1" dirty="0">
                <a:solidFill>
                  <a:srgbClr val="33AFE2"/>
                </a:solidFill>
              </a:rPr>
              <a:t>"Not working" activity is highest in people-facing and service-oriented programs, lowest in technical and hard-science fields.</a:t>
            </a:r>
          </a:p>
          <a:p>
            <a:pPr marL="285750" lvl="0" indent="-285750">
              <a:buFont typeface="Arial" panose="020B0604020202020204" pitchFamily="34" charset="0"/>
              <a:buChar char="•"/>
            </a:pPr>
            <a:endParaRPr lang="en-US" sz="1400" b="1" dirty="0">
              <a:solidFill>
                <a:srgbClr val="33AFE2"/>
              </a:solidFill>
            </a:endParaRPr>
          </a:p>
          <a:p>
            <a:pPr marL="285750" lvl="0" indent="-285750">
              <a:buFont typeface="Arial" panose="020B0604020202020204" pitchFamily="34" charset="0"/>
              <a:buChar char="•"/>
            </a:pPr>
            <a:r>
              <a:rPr lang="en-US" sz="1400" b="1" dirty="0"/>
              <a:t>Psychology</a:t>
            </a:r>
            <a:r>
              <a:rPr lang="en-US" sz="1400" dirty="0"/>
              <a:t> has the highest average not-working count </a:t>
            </a:r>
            <a:r>
              <a:rPr lang="en-US" sz="1400" b="1" dirty="0"/>
              <a:t>(~7.1 per record)</a:t>
            </a:r>
            <a:r>
              <a:rPr lang="en-US" sz="1400" dirty="0"/>
              <a:t>, followed by </a:t>
            </a:r>
            <a:r>
              <a:rPr lang="en-US" sz="1400" b="1" dirty="0"/>
              <a:t>Homeland Security/Law Enforcement (~6.4)</a:t>
            </a:r>
            <a:r>
              <a:rPr lang="en-US" sz="1400" dirty="0"/>
              <a:t> and </a:t>
            </a:r>
            <a:r>
              <a:rPr lang="en-US" sz="1400" b="1" dirty="0"/>
              <a:t>Business, Management, and Marketing (~5.7</a:t>
            </a:r>
          </a:p>
          <a:p>
            <a:pPr marL="285750" lvl="0" indent="-285750">
              <a:buFont typeface="Arial" panose="020B0604020202020204" pitchFamily="34" charset="0"/>
              <a:buChar char="•"/>
            </a:pPr>
            <a:endParaRPr lang="en-US" sz="1400" dirty="0"/>
          </a:p>
          <a:p>
            <a:pPr marL="285750" lvl="0" indent="-285750">
              <a:buFont typeface="Arial" panose="020B0604020202020204" pitchFamily="34" charset="0"/>
              <a:buChar char="•"/>
            </a:pPr>
            <a:r>
              <a:rPr lang="en-US" sz="1400" b="1" dirty="0"/>
              <a:t>Physical Sciences </a:t>
            </a:r>
            <a:r>
              <a:rPr lang="en-US" sz="1400" dirty="0"/>
              <a:t>sits lowest </a:t>
            </a:r>
            <a:r>
              <a:rPr lang="en-US" sz="1400" b="1" dirty="0"/>
              <a:t>(~0.6)</a:t>
            </a:r>
            <a:r>
              <a:rPr lang="en-US" sz="1400" dirty="0"/>
              <a:t>, alongside </a:t>
            </a:r>
            <a:r>
              <a:rPr lang="en-US" sz="1400" b="1" dirty="0"/>
              <a:t>Mathematics and Statistics (~0.7) </a:t>
            </a:r>
            <a:r>
              <a:rPr lang="en-US" sz="1400" dirty="0"/>
              <a:t>and </a:t>
            </a:r>
            <a:r>
              <a:rPr lang="en-US" sz="1400" b="1" dirty="0"/>
              <a:t>Mechanic and Repair Technologies (~0.8)</a:t>
            </a:r>
            <a:endParaRPr lang="en-US" sz="1400" dirty="0"/>
          </a:p>
        </p:txBody>
      </p:sp>
      <p:sp>
        <p:nvSpPr>
          <p:cNvPr id="14" name="TextBox 13"/>
          <p:cNvSpPr txBox="1"/>
          <p:nvPr/>
        </p:nvSpPr>
        <p:spPr>
          <a:xfrm>
            <a:off x="8039144" y="5613417"/>
            <a:ext cx="3212789" cy="401648"/>
          </a:xfrm>
          <a:prstGeom prst="rect">
            <a:avLst/>
          </a:prstGeom>
          <a:noFill/>
        </p:spPr>
        <p:txBody>
          <a:bodyPr wrap="square" lIns="27432" tIns="27432" rIns="27432" bIns="27432" anchor="ctr">
            <a:spAutoFit/>
          </a:bodyPr>
          <a:lstStyle/>
          <a:p>
            <a:r>
              <a:rPr lang="en-US" sz="750" dirty="0">
                <a:solidFill>
                  <a:srgbClr val="9CA3AF"/>
                </a:solidFill>
                <a:latin typeface="Aptos"/>
              </a:rPr>
              <a:t>1: </a:t>
            </a:r>
            <a:r>
              <a:rPr lang="en-US" sz="750" b="0" i="0" dirty="0">
                <a:solidFill>
                  <a:srgbClr val="9CA3AF"/>
                </a:solidFill>
                <a:latin typeface="Aptos"/>
              </a:rPr>
              <a:t>(Note: this is a raw count, not a true percentage, since there's no total-graduates column to normalize by. Please  treat it as a relative comparison between programs, not an absolute rate.)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ounded Rectangle 6">
            <a:extLst>
              <a:ext uri="{FF2B5EF4-FFF2-40B4-BE49-F238E27FC236}">
                <a16:creationId xmlns:a16="http://schemas.microsoft.com/office/drawing/2014/main" id="{ACDD92C6-150D-F953-C3B4-F2D7C4DE8184}"/>
              </a:ext>
            </a:extLst>
          </p:cNvPr>
          <p:cNvSpPr/>
          <p:nvPr/>
        </p:nvSpPr>
        <p:spPr>
          <a:xfrm>
            <a:off x="594360" y="1664207"/>
            <a:ext cx="6812280" cy="4486219"/>
          </a:xfrm>
          <a:prstGeom prst="roundRect">
            <a:avLst>
              <a:gd name="adj" fmla="val 8000"/>
            </a:avLst>
          </a:prstGeom>
          <a:solidFill>
            <a:srgbClr val="F2FAFD"/>
          </a:solidFill>
          <a:ln>
            <a:solidFill>
              <a:srgbClr val="DCF2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7">
            <a:extLst>
              <a:ext uri="{FF2B5EF4-FFF2-40B4-BE49-F238E27FC236}">
                <a16:creationId xmlns:a16="http://schemas.microsoft.com/office/drawing/2014/main" id="{E4252CD3-935B-D92A-0EEA-72B78B7A9CFC}"/>
              </a:ext>
            </a:extLst>
          </p:cNvPr>
          <p:cNvSpPr/>
          <p:nvPr/>
        </p:nvSpPr>
        <p:spPr>
          <a:xfrm>
            <a:off x="795528" y="1865376"/>
            <a:ext cx="6409944" cy="4052386"/>
          </a:xfrm>
          <a:prstGeom prst="roundRect">
            <a:avLst>
              <a:gd name="adj" fmla="val 8000"/>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91695" cy="73152"/>
          </a:xfrm>
          <a:prstGeom prst="rect">
            <a:avLst/>
          </a:prstGeom>
          <a:solidFill>
            <a:srgbClr val="33AFE2"/>
          </a:solidFill>
          <a:ln>
            <a:solidFill>
              <a:srgbClr val="33AF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2194560" cy="228600"/>
          </a:xfrm>
          <a:prstGeom prst="rect">
            <a:avLst/>
          </a:prstGeom>
          <a:noFill/>
        </p:spPr>
        <p:txBody>
          <a:bodyPr wrap="none" lIns="27432" tIns="27432" rIns="27432" bIns="27432" anchor="ctr">
            <a:spAutoFit/>
          </a:bodyPr>
          <a:lstStyle/>
          <a:p>
            <a:pPr algn="l"/>
            <a:r>
              <a:rPr sz="900" b="1" i="0">
                <a:solidFill>
                  <a:srgbClr val="237BA5"/>
                </a:solidFill>
                <a:latin typeface="Aptos"/>
              </a:rPr>
              <a:t>EMPLOYMENT</a:t>
            </a:r>
          </a:p>
        </p:txBody>
      </p:sp>
      <p:sp>
        <p:nvSpPr>
          <p:cNvPr id="4" name="TextBox 3"/>
          <p:cNvSpPr txBox="1"/>
          <p:nvPr/>
        </p:nvSpPr>
        <p:spPr>
          <a:xfrm>
            <a:off x="594360" y="612648"/>
            <a:ext cx="10607040" cy="566928"/>
          </a:xfrm>
          <a:prstGeom prst="rect">
            <a:avLst/>
          </a:prstGeom>
          <a:noFill/>
        </p:spPr>
        <p:txBody>
          <a:bodyPr wrap="none" lIns="27432" tIns="27432" rIns="27432" bIns="27432" anchor="ctr">
            <a:spAutoFit/>
          </a:bodyPr>
          <a:lstStyle/>
          <a:p>
            <a:pPr algn="l"/>
            <a:r>
              <a:rPr sz="2500" b="1" i="0">
                <a:solidFill>
                  <a:srgbClr val="202124"/>
                </a:solidFill>
                <a:latin typeface="Aptos"/>
              </a:rPr>
              <a:t>Where do graduates go after completing each program?</a:t>
            </a:r>
          </a:p>
        </p:txBody>
      </p:sp>
      <p:sp>
        <p:nvSpPr>
          <p:cNvPr id="5" name="TextBox 4"/>
          <p:cNvSpPr txBox="1"/>
          <p:nvPr/>
        </p:nvSpPr>
        <p:spPr>
          <a:xfrm>
            <a:off x="612648" y="1246270"/>
            <a:ext cx="3612464" cy="232371"/>
          </a:xfrm>
          <a:prstGeom prst="rect">
            <a:avLst/>
          </a:prstGeom>
          <a:noFill/>
        </p:spPr>
        <p:txBody>
          <a:bodyPr wrap="none" lIns="27432" tIns="27432" rIns="27432" bIns="27432" anchor="ctr">
            <a:spAutoFit/>
          </a:bodyPr>
          <a:lstStyle/>
          <a:p>
            <a:pPr algn="l"/>
            <a:r>
              <a:rPr lang="en-CA" sz="1150" dirty="0">
                <a:solidFill>
                  <a:srgbClr val="6B7280"/>
                </a:solidFill>
                <a:latin typeface="Aptos"/>
              </a:rPr>
              <a:t>Each program and its most common linked occupations</a:t>
            </a:r>
            <a:endParaRPr sz="1150" b="0" i="0" dirty="0">
              <a:solidFill>
                <a:srgbClr val="6B7280"/>
              </a:solidFill>
              <a:latin typeface="Aptos"/>
            </a:endParaRPr>
          </a:p>
        </p:txBody>
      </p:sp>
      <p:sp>
        <p:nvSpPr>
          <p:cNvPr id="6" name="TextBox 5"/>
          <p:cNvSpPr txBox="1"/>
          <p:nvPr/>
        </p:nvSpPr>
        <p:spPr>
          <a:xfrm>
            <a:off x="11435652" y="383110"/>
            <a:ext cx="177228" cy="193899"/>
          </a:xfrm>
          <a:prstGeom prst="rect">
            <a:avLst/>
          </a:prstGeom>
          <a:noFill/>
        </p:spPr>
        <p:txBody>
          <a:bodyPr wrap="none" lIns="27432" tIns="27432" rIns="27432" bIns="27432" anchor="ctr">
            <a:spAutoFit/>
          </a:bodyPr>
          <a:lstStyle/>
          <a:p>
            <a:pPr algn="r"/>
            <a:r>
              <a:rPr lang="en-CA" sz="900" b="1" i="0" dirty="0">
                <a:solidFill>
                  <a:srgbClr val="9CA3AF"/>
                </a:solidFill>
                <a:latin typeface="Aptos"/>
              </a:rPr>
              <a:t>13</a:t>
            </a:r>
            <a:endParaRPr sz="900" b="1" i="0" dirty="0">
              <a:solidFill>
                <a:srgbClr val="9CA3AF"/>
              </a:solidFill>
              <a:latin typeface="Aptos"/>
            </a:endParaRPr>
          </a:p>
        </p:txBody>
      </p:sp>
      <p:sp>
        <p:nvSpPr>
          <p:cNvPr id="9" name="TextBox 8"/>
          <p:cNvSpPr txBox="1"/>
          <p:nvPr/>
        </p:nvSpPr>
        <p:spPr>
          <a:xfrm>
            <a:off x="1531620" y="1865376"/>
            <a:ext cx="4937760" cy="292608"/>
          </a:xfrm>
          <a:prstGeom prst="rect">
            <a:avLst/>
          </a:prstGeom>
          <a:noFill/>
        </p:spPr>
        <p:txBody>
          <a:bodyPr wrap="none" lIns="27432" tIns="27432" rIns="27432" bIns="27432" anchor="ctr">
            <a:spAutoFit/>
          </a:bodyPr>
          <a:lstStyle/>
          <a:p>
            <a:pPr algn="ctr"/>
            <a:r>
              <a:rPr sz="1300" b="1" i="0" dirty="0">
                <a:solidFill>
                  <a:srgbClr val="237BA5"/>
                </a:solidFill>
                <a:latin typeface="Aptos"/>
              </a:rPr>
              <a:t>OCCUPATION PATHWAY VISUAL</a:t>
            </a:r>
          </a:p>
        </p:txBody>
      </p:sp>
      <p:cxnSp>
        <p:nvCxnSpPr>
          <p:cNvPr id="12" name="Connector 11"/>
          <p:cNvCxnSpPr/>
          <p:nvPr/>
        </p:nvCxnSpPr>
        <p:spPr>
          <a:xfrm>
            <a:off x="594360" y="6446520"/>
            <a:ext cx="11000232" cy="0"/>
          </a:xfrm>
          <a:prstGeom prst="line">
            <a:avLst/>
          </a:prstGeom>
          <a:ln w="10160">
            <a:solidFill>
              <a:srgbClr val="E5E7EB"/>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21792" y="6498272"/>
            <a:ext cx="7645619" cy="170816"/>
          </a:xfrm>
          <a:prstGeom prst="rect">
            <a:avLst/>
          </a:prstGeom>
          <a:noFill/>
        </p:spPr>
        <p:txBody>
          <a:bodyPr wrap="none" lIns="27432" tIns="27432" rIns="27432" bIns="27432" anchor="ctr">
            <a:spAutoFit/>
          </a:bodyPr>
          <a:lstStyle/>
          <a:p>
            <a:r>
              <a:rPr lang="en-US" sz="750" dirty="0">
                <a:solidFill>
                  <a:srgbClr val="9CA3AF"/>
                </a:solidFill>
                <a:latin typeface="Aptos"/>
              </a:rPr>
              <a:t>Source: Lab, M. (2026, August 1). College majors 2026: Earnings, Debt, jobs, AI. Kaggle. https://www.kaggle.com/datasets/kylefengkfeng209/college-majors-2026-earnings-debt-jobs-ai</a:t>
            </a:r>
            <a:endParaRPr sz="750" b="0" i="0" dirty="0">
              <a:solidFill>
                <a:srgbClr val="9CA3AF"/>
              </a:solidFill>
              <a:latin typeface="Aptos"/>
            </a:endParaRPr>
          </a:p>
        </p:txBody>
      </p:sp>
      <p:pic>
        <p:nvPicPr>
          <p:cNvPr id="18" name="Picture 17">
            <a:extLst>
              <a:ext uri="{FF2B5EF4-FFF2-40B4-BE49-F238E27FC236}">
                <a16:creationId xmlns:a16="http://schemas.microsoft.com/office/drawing/2014/main" id="{CEC30E42-A4B0-7E78-6234-6674D88F1285}"/>
              </a:ext>
            </a:extLst>
          </p:cNvPr>
          <p:cNvPicPr>
            <a:picLocks noChangeAspect="1"/>
          </p:cNvPicPr>
          <p:nvPr/>
        </p:nvPicPr>
        <p:blipFill>
          <a:blip r:embed="rId2"/>
          <a:stretch>
            <a:fillRect/>
          </a:stretch>
        </p:blipFill>
        <p:spPr>
          <a:xfrm>
            <a:off x="897096" y="2157984"/>
            <a:ext cx="6205728" cy="3490723"/>
          </a:xfrm>
          <a:prstGeom prst="rect">
            <a:avLst/>
          </a:prstGeom>
        </p:spPr>
      </p:pic>
      <p:sp>
        <p:nvSpPr>
          <p:cNvPr id="23" name="Rectangle 22">
            <a:extLst>
              <a:ext uri="{FF2B5EF4-FFF2-40B4-BE49-F238E27FC236}">
                <a16:creationId xmlns:a16="http://schemas.microsoft.com/office/drawing/2014/main" id="{0EAEA0F4-66DE-84AA-E76D-2FCD77040EE5}"/>
              </a:ext>
            </a:extLst>
          </p:cNvPr>
          <p:cNvSpPr/>
          <p:nvPr/>
        </p:nvSpPr>
        <p:spPr>
          <a:xfrm>
            <a:off x="7725960" y="1664207"/>
            <a:ext cx="3841200" cy="4497103"/>
          </a:xfrm>
          <a:prstGeom prst="rect">
            <a:avLst/>
          </a:prstGeom>
          <a:solidFill>
            <a:schemeClr val="bg1"/>
          </a:solidFill>
          <a:ln>
            <a:solidFill>
              <a:schemeClr val="bg1">
                <a:lumMod val="9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CA" dirty="0">
              <a:solidFill>
                <a:schemeClr val="tx1"/>
              </a:solidFill>
            </a:endParaRPr>
          </a:p>
        </p:txBody>
      </p:sp>
      <p:sp>
        <p:nvSpPr>
          <p:cNvPr id="27" name="TextBox 26">
            <a:extLst>
              <a:ext uri="{FF2B5EF4-FFF2-40B4-BE49-F238E27FC236}">
                <a16:creationId xmlns:a16="http://schemas.microsoft.com/office/drawing/2014/main" id="{67C4D768-96B5-F55F-4E3B-D2B9075D4DA1}"/>
              </a:ext>
            </a:extLst>
          </p:cNvPr>
          <p:cNvSpPr txBox="1"/>
          <p:nvPr/>
        </p:nvSpPr>
        <p:spPr>
          <a:xfrm>
            <a:off x="7837560" y="1602692"/>
            <a:ext cx="3618000" cy="4616648"/>
          </a:xfrm>
          <a:prstGeom prst="rect">
            <a:avLst/>
          </a:prstGeom>
          <a:noFill/>
        </p:spPr>
        <p:txBody>
          <a:bodyPr wrap="square" rtlCol="0">
            <a:spAutoFit/>
          </a:bodyPr>
          <a:lstStyle/>
          <a:p>
            <a:pPr>
              <a:buNone/>
            </a:pPr>
            <a:r>
              <a:rPr lang="en-CA" sz="1400" b="1" dirty="0">
                <a:solidFill>
                  <a:srgbClr val="33AFE2"/>
                </a:solidFill>
              </a:rPr>
              <a:t>Career outcomes split along two primary paths: management roles driven by business and social sciences grads, and teaching roles led by humanities and physical sciences grads</a:t>
            </a:r>
          </a:p>
          <a:p>
            <a:pPr>
              <a:buNone/>
            </a:pPr>
            <a:endParaRPr lang="en-CA" sz="1400" dirty="0"/>
          </a:p>
          <a:p>
            <a:pPr marL="342900" lvl="0" indent="-342900">
              <a:buFont typeface="Arial" panose="020B0604020202020204" pitchFamily="34" charset="0"/>
              <a:buChar char="•"/>
            </a:pPr>
            <a:r>
              <a:rPr lang="en-CA" sz="1400" b="1" dirty="0"/>
              <a:t>General &amp; Operations Managers:</a:t>
            </a:r>
            <a:r>
              <a:rPr lang="en-CA" sz="1400" dirty="0"/>
              <a:t> Business, Management, &amp; Marketing (4,002 records)</a:t>
            </a:r>
          </a:p>
          <a:p>
            <a:pPr lvl="0"/>
            <a:endParaRPr lang="en-CA" sz="1400" dirty="0"/>
          </a:p>
          <a:p>
            <a:pPr marL="342900" lvl="0" indent="-342900">
              <a:buFont typeface="Arial" panose="020B0604020202020204" pitchFamily="34" charset="0"/>
              <a:buChar char="•"/>
            </a:pPr>
            <a:r>
              <a:rPr lang="en-CA" sz="1400" b="1" dirty="0"/>
              <a:t>Managers, All Other:</a:t>
            </a:r>
            <a:r>
              <a:rPr lang="en-CA" sz="1400" dirty="0"/>
              <a:t> Social Sciences (4,666 records)</a:t>
            </a:r>
          </a:p>
          <a:p>
            <a:pPr lvl="0"/>
            <a:endParaRPr lang="en-CA" sz="1400" dirty="0"/>
          </a:p>
          <a:p>
            <a:pPr marL="342900" lvl="0" indent="-342900">
              <a:buFont typeface="Arial" panose="020B0604020202020204" pitchFamily="34" charset="0"/>
              <a:buChar char="•"/>
            </a:pPr>
            <a:r>
              <a:rPr lang="en-CA" sz="1400" b="1" dirty="0"/>
              <a:t>Software Developers:</a:t>
            </a:r>
            <a:r>
              <a:rPr lang="en-CA" sz="1400" dirty="0"/>
              <a:t> Computer &amp; Information Sciences (2,409 records)</a:t>
            </a:r>
          </a:p>
          <a:p>
            <a:pPr lvl="0"/>
            <a:endParaRPr lang="en-CA" sz="1400" dirty="0"/>
          </a:p>
          <a:p>
            <a:pPr marL="342900" lvl="0" indent="-342900">
              <a:buFont typeface="Arial" panose="020B0604020202020204" pitchFamily="34" charset="0"/>
              <a:buChar char="•"/>
            </a:pPr>
            <a:r>
              <a:rPr lang="en-CA" sz="1400" b="1" dirty="0"/>
              <a:t>Elementary School Teachers:</a:t>
            </a:r>
            <a:r>
              <a:rPr lang="en-CA" sz="1400" dirty="0"/>
              <a:t> Education (2,355 records)</a:t>
            </a:r>
          </a:p>
          <a:p>
            <a:pPr lvl="0"/>
            <a:endParaRPr lang="en-CA" sz="1400" dirty="0"/>
          </a:p>
          <a:p>
            <a:pPr marL="342900" lvl="0" indent="-342900">
              <a:buFont typeface="Arial" panose="020B0604020202020204" pitchFamily="34" charset="0"/>
              <a:buChar char="•"/>
            </a:pPr>
            <a:r>
              <a:rPr lang="en-CA" sz="1400" b="1" dirty="0"/>
              <a:t>Secondary School Teachers:</a:t>
            </a:r>
            <a:r>
              <a:rPr lang="en-CA" sz="1400" dirty="0"/>
              <a:t> Foreign Languages (2,415), Visual &amp; Performing Arts (2,165), and Physical Sciences (2,057)</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33AFE2"/>
          </a:solidFill>
          <a:ln>
            <a:solidFill>
              <a:srgbClr val="33AF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2194560" cy="228600"/>
          </a:xfrm>
          <a:prstGeom prst="rect">
            <a:avLst/>
          </a:prstGeom>
          <a:noFill/>
        </p:spPr>
        <p:txBody>
          <a:bodyPr wrap="none" lIns="27432" tIns="27432" rIns="27432" bIns="27432" anchor="ctr">
            <a:spAutoFit/>
          </a:bodyPr>
          <a:lstStyle/>
          <a:p>
            <a:pPr algn="l"/>
            <a:r>
              <a:rPr sz="900" b="1" i="0">
                <a:solidFill>
                  <a:srgbClr val="237BA5"/>
                </a:solidFill>
                <a:latin typeface="Aptos"/>
              </a:rPr>
              <a:t>APPENDIX</a:t>
            </a:r>
          </a:p>
        </p:txBody>
      </p:sp>
      <p:sp>
        <p:nvSpPr>
          <p:cNvPr id="4" name="TextBox 3"/>
          <p:cNvSpPr txBox="1"/>
          <p:nvPr/>
        </p:nvSpPr>
        <p:spPr>
          <a:xfrm>
            <a:off x="594360" y="612648"/>
            <a:ext cx="10607040" cy="566928"/>
          </a:xfrm>
          <a:prstGeom prst="rect">
            <a:avLst/>
          </a:prstGeom>
          <a:noFill/>
        </p:spPr>
        <p:txBody>
          <a:bodyPr wrap="none" lIns="27432" tIns="27432" rIns="27432" bIns="27432" anchor="ctr">
            <a:spAutoFit/>
          </a:bodyPr>
          <a:lstStyle/>
          <a:p>
            <a:pPr algn="l"/>
            <a:r>
              <a:rPr sz="2500" b="1" i="0">
                <a:solidFill>
                  <a:srgbClr val="202124"/>
                </a:solidFill>
                <a:latin typeface="Aptos"/>
              </a:rPr>
              <a:t>Definitions &amp; methodology</a:t>
            </a:r>
          </a:p>
        </p:txBody>
      </p:sp>
      <p:sp>
        <p:nvSpPr>
          <p:cNvPr id="5" name="TextBox 4"/>
          <p:cNvSpPr txBox="1"/>
          <p:nvPr/>
        </p:nvSpPr>
        <p:spPr>
          <a:xfrm>
            <a:off x="612648" y="1170432"/>
            <a:ext cx="10515600" cy="384048"/>
          </a:xfrm>
          <a:prstGeom prst="rect">
            <a:avLst/>
          </a:prstGeom>
          <a:noFill/>
        </p:spPr>
        <p:txBody>
          <a:bodyPr wrap="none" lIns="27432" tIns="27432" rIns="27432" bIns="27432" anchor="ctr">
            <a:spAutoFit/>
          </a:bodyPr>
          <a:lstStyle/>
          <a:p>
            <a:pPr algn="l"/>
            <a:r>
              <a:rPr sz="1150" b="0" i="0">
                <a:solidFill>
                  <a:srgbClr val="6B7280"/>
                </a:solidFill>
                <a:latin typeface="Aptos"/>
              </a:rPr>
              <a:t>Use this slide to make the analysis transparent and reproducible.</a:t>
            </a:r>
          </a:p>
        </p:txBody>
      </p:sp>
      <p:sp>
        <p:nvSpPr>
          <p:cNvPr id="6" name="TextBox 5"/>
          <p:cNvSpPr txBox="1"/>
          <p:nvPr/>
        </p:nvSpPr>
        <p:spPr>
          <a:xfrm>
            <a:off x="11435652" y="383110"/>
            <a:ext cx="177228" cy="193899"/>
          </a:xfrm>
          <a:prstGeom prst="rect">
            <a:avLst/>
          </a:prstGeom>
          <a:noFill/>
        </p:spPr>
        <p:txBody>
          <a:bodyPr wrap="none" lIns="27432" tIns="27432" rIns="27432" bIns="27432" anchor="ctr">
            <a:spAutoFit/>
          </a:bodyPr>
          <a:lstStyle/>
          <a:p>
            <a:pPr algn="r"/>
            <a:r>
              <a:rPr lang="en-CA" sz="900" b="1" i="0" dirty="0">
                <a:solidFill>
                  <a:srgbClr val="9CA3AF"/>
                </a:solidFill>
                <a:latin typeface="Aptos"/>
              </a:rPr>
              <a:t>14</a:t>
            </a:r>
            <a:endParaRPr sz="900" b="1" i="0" dirty="0">
              <a:solidFill>
                <a:srgbClr val="9CA3AF"/>
              </a:solidFill>
              <a:latin typeface="Aptos"/>
            </a:endParaRPr>
          </a:p>
        </p:txBody>
      </p:sp>
      <p:sp>
        <p:nvSpPr>
          <p:cNvPr id="7" name="TextBox 6"/>
          <p:cNvSpPr txBox="1"/>
          <p:nvPr/>
        </p:nvSpPr>
        <p:spPr>
          <a:xfrm>
            <a:off x="640080" y="1664208"/>
            <a:ext cx="1828800" cy="228600"/>
          </a:xfrm>
          <a:prstGeom prst="rect">
            <a:avLst/>
          </a:prstGeom>
          <a:noFill/>
        </p:spPr>
        <p:txBody>
          <a:bodyPr wrap="none" lIns="27432" tIns="27432" rIns="27432" bIns="27432" anchor="ctr">
            <a:spAutoFit/>
          </a:bodyPr>
          <a:lstStyle/>
          <a:p>
            <a:pPr algn="l"/>
            <a:r>
              <a:rPr sz="900" b="1" i="0">
                <a:solidFill>
                  <a:srgbClr val="237BA5"/>
                </a:solidFill>
                <a:latin typeface="Aptos"/>
              </a:rPr>
              <a:t>MEASURES</a:t>
            </a:r>
          </a:p>
        </p:txBody>
      </p:sp>
      <p:sp>
        <p:nvSpPr>
          <p:cNvPr id="8" name="TextBox 7"/>
          <p:cNvSpPr txBox="1"/>
          <p:nvPr/>
        </p:nvSpPr>
        <p:spPr>
          <a:xfrm>
            <a:off x="658368" y="2011680"/>
            <a:ext cx="5303520" cy="3306033"/>
          </a:xfrm>
          <a:prstGeom prst="rect">
            <a:avLst/>
          </a:prstGeom>
          <a:noFill/>
        </p:spPr>
        <p:txBody>
          <a:bodyPr wrap="square">
            <a:spAutoFit/>
          </a:bodyPr>
          <a:lstStyle/>
          <a:p>
            <a:pPr marL="171450" indent="-171450">
              <a:spcAft>
                <a:spcPts val="700"/>
              </a:spcAft>
              <a:buFont typeface="Arial" panose="020B0604020202020204" pitchFamily="34" charset="0"/>
              <a:buChar char="•"/>
              <a:defRPr sz="1050">
                <a:solidFill>
                  <a:srgbClr val="202124"/>
                </a:solidFill>
                <a:latin typeface="Aptos"/>
              </a:defRPr>
            </a:pPr>
            <a:r>
              <a:rPr lang="en-US" b="1" dirty="0"/>
              <a:t>Program:</a:t>
            </a:r>
            <a:r>
              <a:rPr lang="en-US" dirty="0"/>
              <a:t> CIP (Classification of Instructional Programs) family grouping, aggregating related degree programs (e.g., all Engineering disciplines) into one category for comparison.</a:t>
            </a:r>
          </a:p>
          <a:p>
            <a:pPr marL="171450" indent="-171450">
              <a:spcAft>
                <a:spcPts val="700"/>
              </a:spcAft>
              <a:buFont typeface="Arial" panose="020B0604020202020204" pitchFamily="34" charset="0"/>
              <a:buChar char="•"/>
              <a:defRPr sz="1050">
                <a:solidFill>
                  <a:srgbClr val="202124"/>
                </a:solidFill>
                <a:latin typeface="Aptos"/>
              </a:defRPr>
            </a:pPr>
            <a:r>
              <a:rPr lang="en-US" b="1" dirty="0"/>
              <a:t>Earnings: </a:t>
            </a:r>
            <a:r>
              <a:rPr lang="en-US" dirty="0"/>
              <a:t>Median earnings 4 years after graduation, in USD</a:t>
            </a:r>
          </a:p>
          <a:p>
            <a:pPr marL="171450" indent="-171450">
              <a:spcAft>
                <a:spcPts val="700"/>
              </a:spcAft>
              <a:buFont typeface="Arial" panose="020B0604020202020204" pitchFamily="34" charset="0"/>
              <a:buChar char="•"/>
              <a:defRPr sz="1050">
                <a:solidFill>
                  <a:srgbClr val="202124"/>
                </a:solidFill>
                <a:latin typeface="Aptos"/>
              </a:defRPr>
            </a:pPr>
            <a:r>
              <a:rPr lang="en-US" b="1" dirty="0"/>
              <a:t>Tuition:</a:t>
            </a:r>
            <a:r>
              <a:rPr lang="en-US" dirty="0"/>
              <a:t> In-state, published tuition rate; does not account for financial aid, scholarships, or net price after aid</a:t>
            </a:r>
          </a:p>
          <a:p>
            <a:pPr marL="171450" indent="-171450">
              <a:spcAft>
                <a:spcPts val="700"/>
              </a:spcAft>
              <a:buFont typeface="Arial" panose="020B0604020202020204" pitchFamily="34" charset="0"/>
              <a:buChar char="•"/>
              <a:defRPr sz="1050">
                <a:solidFill>
                  <a:srgbClr val="202124"/>
                </a:solidFill>
                <a:latin typeface="Aptos"/>
              </a:defRPr>
            </a:pPr>
            <a:r>
              <a:rPr lang="en-US" b="1" dirty="0"/>
              <a:t>Selectivity:</a:t>
            </a:r>
            <a:r>
              <a:rPr lang="en-US" dirty="0"/>
              <a:t> Institution's undergraduate admission rate; a lower rate indicates a more selective school</a:t>
            </a:r>
          </a:p>
          <a:p>
            <a:pPr marL="171450" indent="-171450">
              <a:spcAft>
                <a:spcPts val="700"/>
              </a:spcAft>
              <a:buFont typeface="Arial" panose="020B0604020202020204" pitchFamily="34" charset="0"/>
              <a:buChar char="•"/>
              <a:defRPr sz="1050">
                <a:solidFill>
                  <a:srgbClr val="202124"/>
                </a:solidFill>
                <a:latin typeface="Aptos"/>
              </a:defRPr>
            </a:pPr>
            <a:r>
              <a:rPr lang="en-US" dirty="0"/>
              <a:t> </a:t>
            </a:r>
            <a:r>
              <a:rPr lang="en-US" b="1" dirty="0"/>
              <a:t>AI-linked occupation: </a:t>
            </a:r>
            <a:r>
              <a:rPr lang="en-US" dirty="0"/>
              <a:t>An occupation classified as using AI software tools in its day-to-day work</a:t>
            </a:r>
          </a:p>
          <a:p>
            <a:pPr marL="171450" indent="-171450">
              <a:spcAft>
                <a:spcPts val="700"/>
              </a:spcAft>
              <a:buFont typeface="Arial" panose="020B0604020202020204" pitchFamily="34" charset="0"/>
              <a:buChar char="•"/>
              <a:defRPr sz="1050">
                <a:solidFill>
                  <a:srgbClr val="202124"/>
                </a:solidFill>
                <a:latin typeface="Aptos"/>
              </a:defRPr>
            </a:pPr>
            <a:r>
              <a:rPr lang="en-US" b="1" dirty="0"/>
              <a:t>Expert-system exposure: </a:t>
            </a:r>
            <a:r>
              <a:rPr lang="en-US" dirty="0"/>
              <a:t>Share of program-associated roles exposed to AI-driven expert decision-making systems</a:t>
            </a:r>
          </a:p>
          <a:p>
            <a:pPr marL="171450" indent="-171450">
              <a:spcAft>
                <a:spcPts val="700"/>
              </a:spcAft>
              <a:buFont typeface="Arial" panose="020B0604020202020204" pitchFamily="34" charset="0"/>
              <a:buChar char="•"/>
              <a:defRPr sz="1050">
                <a:solidFill>
                  <a:srgbClr val="202124"/>
                </a:solidFill>
                <a:latin typeface="Aptos"/>
              </a:defRPr>
            </a:pPr>
            <a:r>
              <a:rPr lang="en-US" b="1" dirty="0"/>
              <a:t>Not working: </a:t>
            </a:r>
            <a:r>
              <a:rPr lang="en-US" dirty="0"/>
              <a:t>Count of graduates not reporting employment 5 years after completion; a raw count, not normalized by total program size</a:t>
            </a:r>
          </a:p>
          <a:p>
            <a:pPr marL="171450" indent="-171450">
              <a:spcAft>
                <a:spcPts val="700"/>
              </a:spcAft>
              <a:buFont typeface="Arial" panose="020B0604020202020204" pitchFamily="34" charset="0"/>
              <a:buChar char="•"/>
              <a:defRPr sz="1050">
                <a:solidFill>
                  <a:srgbClr val="202124"/>
                </a:solidFill>
                <a:latin typeface="Aptos"/>
              </a:defRPr>
            </a:pPr>
            <a:r>
              <a:rPr lang="en-US" b="1" dirty="0"/>
              <a:t>Linked occupation: </a:t>
            </a:r>
            <a:r>
              <a:rPr lang="en-US" dirty="0"/>
              <a:t>The occupation(s) most commonly held by graduates of a given program</a:t>
            </a:r>
            <a:endParaRPr dirty="0"/>
          </a:p>
        </p:txBody>
      </p:sp>
      <p:sp>
        <p:nvSpPr>
          <p:cNvPr id="9" name="TextBox 8"/>
          <p:cNvSpPr txBox="1"/>
          <p:nvPr/>
        </p:nvSpPr>
        <p:spPr>
          <a:xfrm>
            <a:off x="6309360" y="1664208"/>
            <a:ext cx="1828800" cy="228600"/>
          </a:xfrm>
          <a:prstGeom prst="rect">
            <a:avLst/>
          </a:prstGeom>
          <a:noFill/>
        </p:spPr>
        <p:txBody>
          <a:bodyPr wrap="none" lIns="27432" tIns="27432" rIns="27432" bIns="27432" anchor="ctr">
            <a:spAutoFit/>
          </a:bodyPr>
          <a:lstStyle/>
          <a:p>
            <a:pPr algn="l"/>
            <a:r>
              <a:rPr sz="900" b="1" i="0">
                <a:solidFill>
                  <a:srgbClr val="237BA5"/>
                </a:solidFill>
                <a:latin typeface="Aptos"/>
              </a:rPr>
              <a:t>LIMITATIONS</a:t>
            </a:r>
          </a:p>
        </p:txBody>
      </p:sp>
      <p:sp>
        <p:nvSpPr>
          <p:cNvPr id="10" name="TextBox 9"/>
          <p:cNvSpPr txBox="1"/>
          <p:nvPr/>
        </p:nvSpPr>
        <p:spPr>
          <a:xfrm>
            <a:off x="6327648" y="2011680"/>
            <a:ext cx="4937760" cy="2067233"/>
          </a:xfrm>
          <a:prstGeom prst="rect">
            <a:avLst/>
          </a:prstGeom>
          <a:noFill/>
        </p:spPr>
        <p:txBody>
          <a:bodyPr wrap="square">
            <a:spAutoFit/>
          </a:bodyPr>
          <a:lstStyle/>
          <a:p>
            <a:pPr marL="171450" indent="-171450">
              <a:spcAft>
                <a:spcPts val="700"/>
              </a:spcAft>
              <a:buFont typeface="Arial" panose="020B0604020202020204" pitchFamily="34" charset="0"/>
              <a:buChar char="•"/>
              <a:defRPr sz="1050">
                <a:solidFill>
                  <a:srgbClr val="202124"/>
                </a:solidFill>
                <a:latin typeface="Aptos"/>
              </a:defRPr>
            </a:pPr>
            <a:r>
              <a:rPr lang="en-US" dirty="0"/>
              <a:t>Correlation does not imply causation, thus selectivity and earnings may both be driven by other underlying factors</a:t>
            </a:r>
          </a:p>
          <a:p>
            <a:pPr marL="171450" indent="-171450">
              <a:spcAft>
                <a:spcPts val="700"/>
              </a:spcAft>
              <a:buFont typeface="Arial" panose="020B0604020202020204" pitchFamily="34" charset="0"/>
              <a:buChar char="•"/>
              <a:defRPr sz="1050">
                <a:solidFill>
                  <a:srgbClr val="202124"/>
                </a:solidFill>
                <a:latin typeface="Aptos"/>
              </a:defRPr>
            </a:pPr>
            <a:r>
              <a:rPr lang="en-US" dirty="0"/>
              <a:t>Occupation linkage reflects common outcomes for a program nationally, not any individual graduate's actual job</a:t>
            </a:r>
          </a:p>
          <a:p>
            <a:pPr marL="171450" indent="-171450">
              <a:spcAft>
                <a:spcPts val="700"/>
              </a:spcAft>
              <a:buFont typeface="Arial" panose="020B0604020202020204" pitchFamily="34" charset="0"/>
              <a:buChar char="•"/>
              <a:defRPr sz="1050">
                <a:solidFill>
                  <a:srgbClr val="202124"/>
                </a:solidFill>
                <a:latin typeface="Aptos"/>
              </a:defRPr>
            </a:pPr>
            <a:r>
              <a:rPr lang="en-US" dirty="0"/>
              <a:t> Earnings vary by geography, experience, industry, and economic conditions not captured in this dataset</a:t>
            </a:r>
          </a:p>
          <a:p>
            <a:pPr marL="171450" indent="-171450">
              <a:spcAft>
                <a:spcPts val="700"/>
              </a:spcAft>
              <a:buFont typeface="Arial" panose="020B0604020202020204" pitchFamily="34" charset="0"/>
              <a:buChar char="•"/>
              <a:defRPr sz="1050">
                <a:solidFill>
                  <a:srgbClr val="202124"/>
                </a:solidFill>
                <a:latin typeface="Aptos"/>
              </a:defRPr>
            </a:pPr>
            <a:r>
              <a:rPr lang="en-US" dirty="0"/>
              <a:t>AI and expert-system exposure measures indicate occupational exposure to these technologies, not confirmed or guaranteed job displacement</a:t>
            </a:r>
          </a:p>
          <a:p>
            <a:pPr marL="171450" indent="-171450">
              <a:spcAft>
                <a:spcPts val="700"/>
              </a:spcAft>
              <a:buFont typeface="Arial" panose="020B0604020202020204" pitchFamily="34" charset="0"/>
              <a:buChar char="•"/>
              <a:defRPr sz="1050">
                <a:solidFill>
                  <a:srgbClr val="202124"/>
                </a:solidFill>
                <a:latin typeface="Aptos"/>
              </a:defRPr>
            </a:pPr>
            <a:r>
              <a:rPr lang="en-US" dirty="0"/>
              <a:t>Some programs have small underlying sample sizes; these are flagged where relevant and should be interpreted with caution</a:t>
            </a:r>
            <a:endParaRPr dirty="0"/>
          </a:p>
        </p:txBody>
      </p:sp>
      <p:cxnSp>
        <p:nvCxnSpPr>
          <p:cNvPr id="13" name="Connector 12"/>
          <p:cNvCxnSpPr/>
          <p:nvPr/>
        </p:nvCxnSpPr>
        <p:spPr>
          <a:xfrm>
            <a:off x="594360" y="6446520"/>
            <a:ext cx="11000232" cy="0"/>
          </a:xfrm>
          <a:prstGeom prst="line">
            <a:avLst/>
          </a:prstGeom>
          <a:ln w="10160">
            <a:solidFill>
              <a:srgbClr val="E5E7EB"/>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400800" y="6483096"/>
            <a:ext cx="5166360" cy="201168"/>
          </a:xfrm>
          <a:prstGeom prst="rect">
            <a:avLst/>
          </a:prstGeom>
          <a:noFill/>
        </p:spPr>
        <p:txBody>
          <a:bodyPr wrap="none" lIns="27432" tIns="27432" rIns="27432" bIns="27432" anchor="ctr">
            <a:spAutoFit/>
          </a:bodyPr>
          <a:lstStyle/>
          <a:p>
            <a:pPr algn="r"/>
            <a:r>
              <a:rPr sz="750" b="0" i="0">
                <a:solidFill>
                  <a:srgbClr val="9CA3AF"/>
                </a:solidFill>
                <a:latin typeface="Aptos"/>
              </a:rPr>
              <a:t>Appendix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1310</TotalTime>
  <Words>1941</Words>
  <Application>Microsoft Office PowerPoint</Application>
  <PresentationFormat>Widescreen</PresentationFormat>
  <Paragraphs>170</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Brooke Crichlow</cp:lastModifiedBy>
  <cp:revision>9</cp:revision>
  <dcterms:created xsi:type="dcterms:W3CDTF">2013-01-27T09:14:16Z</dcterms:created>
  <dcterms:modified xsi:type="dcterms:W3CDTF">2026-09-11T13:37:31Z</dcterms:modified>
  <cp:category/>
</cp:coreProperties>
</file>